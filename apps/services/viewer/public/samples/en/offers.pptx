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theme/theme1.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media/image1.png" ContentType="image/png"/>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media/image2.png" ContentType="image/png"/>
  <Override PartName="/ppt/slides/slide7.xml" ContentType="application/vnd.openxmlformats-officedocument.presentationml.slide+xml"/>
  <Override PartName="/ppt/presentation.xml" ContentType="application/vnd.openxmlformats-officedocument.presentationml.presentation.main+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p="http://schemas.openxmlformats.org/presentationml/2006/main" xmlns:a="http://schemas.openxmlformats.org/drawingml/2006/main" xmlns:r="http://schemas.openxmlformats.org/officeDocument/2006/relationships">
  <p:sldMasterIdLst>
    <p:sldMasterId id="2147483648" r:id="rIdMaster1"/>
  </p:sldMasterIdLst>
  <p:sldIdLst>
    <p:sldId id="256" r:id="rIdSlide1"/>
    <p:sldId id="257" r:id="rIdSlide2"/>
    <p:sldId id="258" r:id="rIdSlide3"/>
    <p:sldId id="259" r:id="rIdSlide4"/>
    <p:sldId id="260" r:id="rIdSlide5"/>
    <p:sldId id="261" r:id="rIdSlide6"/>
    <p:sldId id="262" r:id="rIdSlide7"/>
  </p:sldIdLst>
  <p:sldSz cx="12191695" cy="6858000"/>
  <p:notesSz cx="6858000" cy="9144000"/>
</p:presentation>
</file>

<file path=ppt/_rels/presentation.xml.rels><?xml version="1.0" encoding="UTF-8" standalone="yes"?>
<Relationships xmlns="http://schemas.openxmlformats.org/package/2006/relationships"><Relationship Id="rIdMaster1" Type="http://schemas.openxmlformats.org/officeDocument/2006/relationships/slideMaster" Target="slideMasters/slide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obj">
  <p:cSld name="Title and Content">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p="http://schemas.openxmlformats.org/presentationml/2006/main" xmlns:a="http://schemas.openxmlformats.org/drawingml/2006/main" xmlns:r="http://schemas.openxmlformats.org/officeDocument/2006/relationships">
  <p:cSld>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Shape 2"/>
          <p:cNvSpPr>
            <a:spLocks noGrp="1"/>
          </p:cNvSpPr>
          <p:nvPr/>
        </p:nvSpPr>
        <p:spPr>
          <a:xfrm>
            <a:off x="0" y="0"/>
            <a:ext cx="12191695" cy="6858000"/>
          </a:xfrm>
          <a:prstGeom prst="rect">
            <a:avLst/>
          </a:prstGeom>
          <a:solidFill>
            <a:srgbClr val="00263D"/>
          </a:solidFill>
          <a:ln>
            <a:noFill/>
          </a:ln>
        </p:spPr>
        <p:txBody>
          <a:bodyPr wrap="square" lIns="137160" tIns="137160" rIns="137160" bIns="137160" anchor="t"/>
          <a:lstStyle/>
          <a:p>
            <a:pPr algn="l"/>
            <a:r>
              <a:rPr lang="en-GB" sz="1200" b="0">
                <a:solidFill>
                  <a:srgbClr val="00263D"/>
                </a:solidFill>
              </a:rPr>
              <a:t/>
            </a:r>
          </a:p>
        </p:txBody>
      </p:sp>
      <p:sp>
        <p:nvSpPr>
          <p:cNvPr id="3" name="Shape 3"/>
          <p:cNvSpPr>
            <a:spLocks noGrp="1"/>
          </p:cNvSpPr>
          <p:nvPr/>
        </p:nvSpPr>
        <p:spPr>
          <a:xfrm>
            <a:off x="0" y="6693408"/>
            <a:ext cx="12191695" cy="164592"/>
          </a:xfrm>
          <a:prstGeom prst="rect">
            <a:avLst/>
          </a:prstGeom>
          <a:solidFill>
            <a:srgbClr val="B3DFEF"/>
          </a:solidFill>
          <a:ln>
            <a:noFill/>
          </a:ln>
        </p:spPr>
        <p:txBody>
          <a:bodyPr wrap="square" lIns="137160" tIns="137160" rIns="137160" bIns="137160" anchor="t"/>
          <a:lstStyle/>
          <a:p>
            <a:pPr algn="l"/>
            <a:r>
              <a:rPr lang="en-GB" sz="1200" b="0">
                <a:solidFill>
                  <a:srgbClr val="00263D"/>
                </a:solidFill>
              </a:rPr>
              <a:t/>
            </a:r>
          </a:p>
        </p:txBody>
      </p:sp>
      <p:pic>
        <p:nvPicPr>
          <p:cNvPr id="4" name="Picture 4" descr="AwaCloud"/>
          <p:cNvPicPr>
            <a:picLocks noChangeAspect="1"/>
          </p:cNvPicPr>
          <p:nvPr/>
        </p:nvPicPr>
        <p:blipFill>
          <a:blip r:embed="rId1"/>
          <a:stretch>
            <a:fillRect/>
          </a:stretch>
        </p:blipFill>
        <p:spPr>
          <a:xfrm>
            <a:off x="822960" y="822960"/>
            <a:ext cx="1280160" cy="1280160"/>
          </a:xfrm>
          <a:prstGeom prst="rect">
            <a:avLst/>
          </a:prstGeom>
        </p:spPr>
      </p:pic>
      <p:sp>
        <p:nvSpPr>
          <p:cNvPr id="5" name="Shape 5"/>
          <p:cNvSpPr>
            <a:spLocks noGrp="1"/>
          </p:cNvSpPr>
          <p:nvPr/>
        </p:nvSpPr>
        <p:spPr>
          <a:xfrm>
            <a:off x="822960" y="2468880"/>
            <a:ext cx="10515600" cy="1188720"/>
          </a:xfrm>
          <a:prstGeom prst="rect">
            <a:avLst/>
          </a:prstGeom>
          <a:noFill/>
          <a:ln>
            <a:noFill/>
          </a:ln>
        </p:spPr>
        <p:txBody>
          <a:bodyPr wrap="square" lIns="137160" tIns="137160" rIns="137160" bIns="137160" anchor="b"/>
          <a:lstStyle/>
          <a:p>
            <a:pPr algn="l"/>
            <a:r>
              <a:rPr lang="en-GB" sz="4800" b="1">
                <a:solidFill>
                  <a:srgbClr val="FFFFFF"/>
                </a:solidFill>
              </a:rPr>
              <a:t>Offers and pricing</a:t>
            </a:r>
          </a:p>
        </p:txBody>
      </p:sp>
      <p:sp>
        <p:nvSpPr>
          <p:cNvPr id="6" name="Shape 6"/>
          <p:cNvSpPr>
            <a:spLocks noGrp="1"/>
          </p:cNvSpPr>
          <p:nvPr/>
        </p:nvSpPr>
        <p:spPr>
          <a:xfrm>
            <a:off x="822960" y="3749040"/>
            <a:ext cx="9601200" cy="1463040"/>
          </a:xfrm>
          <a:prstGeom prst="rect">
            <a:avLst/>
          </a:prstGeom>
          <a:noFill/>
          <a:ln>
            <a:noFill/>
          </a:ln>
        </p:spPr>
        <p:txBody>
          <a:bodyPr wrap="square" lIns="137160" tIns="137160" rIns="137160" bIns="137160" anchor="t"/>
          <a:lstStyle/>
          <a:p>
            <a:pPr algn="l"/>
            <a:r>
              <a:rPr lang="en-GB" sz="2000" b="0">
                <a:solidFill>
                  <a:srgbClr val="B3DFEF"/>
                </a:solidFill>
              </a:rPr>
              <a:t>JavaScript libraries that process your Word, OpenDocument, Excel, PowerPoint, PDF and Markdown documents on your own machines.</a:t>
            </a:r>
          </a:p>
        </p:txBody>
      </p:sp>
      <p:sp>
        <p:nvSpPr>
          <p:cNvPr id="7" name="Shape 7"/>
          <p:cNvSpPr>
            <a:spLocks noGrp="1"/>
          </p:cNvSpPr>
          <p:nvPr/>
        </p:nvSpPr>
        <p:spPr>
          <a:xfrm>
            <a:off x="822960" y="5852160"/>
            <a:ext cx="5486400" cy="457200"/>
          </a:xfrm>
          <a:prstGeom prst="rect">
            <a:avLst/>
          </a:prstGeom>
          <a:noFill/>
          <a:ln>
            <a:noFill/>
          </a:ln>
        </p:spPr>
        <p:txBody>
          <a:bodyPr wrap="square" lIns="137160" tIns="137160" rIns="137160" bIns="137160" anchor="t"/>
          <a:lstStyle/>
          <a:p>
            <a:pPr algn="l"/>
            <a:r>
              <a:rPr lang="en-GB" sz="1400" b="1">
                <a:solidFill>
                  <a:srgbClr val="B3DFEF"/>
                </a:solidFill>
              </a:rPr>
              <a:t>awacloud.com</a:t>
            </a:r>
          </a:p>
        </p:txBody>
      </p:sp>
    </p:spTree>
  </p:cSld>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8" name="Shape 8"/>
          <p:cNvSpPr>
            <a:spLocks noGrp="1"/>
          </p:cNvSpPr>
          <p:nvPr/>
        </p:nvSpPr>
        <p:spPr>
          <a:xfrm>
            <a:off x="0" y="0"/>
            <a:ext cx="12191695" cy="6858000"/>
          </a:xfrm>
          <a:prstGeom prst="rect">
            <a:avLst/>
          </a:prstGeom>
          <a:solidFill>
            <a:srgbClr val="EEF6FA"/>
          </a:solidFill>
          <a:ln>
            <a:noFill/>
          </a:ln>
        </p:spPr>
        <p:txBody>
          <a:bodyPr wrap="square" lIns="137160" tIns="137160" rIns="137160" bIns="137160" anchor="t"/>
          <a:lstStyle/>
          <a:p>
            <a:pPr algn="l"/>
            <a:r>
              <a:rPr lang="en-GB" sz="1200" b="0">
                <a:solidFill>
                  <a:srgbClr val="00263D"/>
                </a:solidFill>
              </a:rPr>
              <a:t/>
            </a:r>
          </a:p>
        </p:txBody>
      </p:sp>
      <p:sp>
        <p:nvSpPr>
          <p:cNvPr id="9" name="Shape 9"/>
          <p:cNvSpPr>
            <a:spLocks noGrp="1"/>
          </p:cNvSpPr>
          <p:nvPr/>
        </p:nvSpPr>
        <p:spPr>
          <a:xfrm>
            <a:off x="822960" y="457200"/>
            <a:ext cx="10515600" cy="822960"/>
          </a:xfrm>
          <a:prstGeom prst="rect">
            <a:avLst/>
          </a:prstGeom>
          <a:noFill/>
          <a:ln>
            <a:noFill/>
          </a:ln>
        </p:spPr>
        <p:txBody>
          <a:bodyPr wrap="square" lIns="137160" tIns="137160" rIns="137160" bIns="137160" anchor="ctr"/>
          <a:lstStyle/>
          <a:p>
            <a:pPr algn="l"/>
            <a:r>
              <a:rPr lang="en-GB" sz="3200" b="1">
                <a:solidFill>
                  <a:srgbClr val="00263D"/>
                </a:solidFill>
              </a:rPr>
              <a:t>Offers and pricing</a:t>
            </a:r>
          </a:p>
        </p:txBody>
      </p:sp>
      <p:sp>
        <p:nvSpPr>
          <p:cNvPr id="10" name="Shape 10"/>
          <p:cNvSpPr>
            <a:spLocks noGrp="1"/>
          </p:cNvSpPr>
          <p:nvPr/>
        </p:nvSpPr>
        <p:spPr>
          <a:xfrm>
            <a:off x="822960" y="1463040"/>
            <a:ext cx="2430704" cy="4572000"/>
          </a:xfrm>
          <a:prstGeom prst="roundRect">
            <a:avLst/>
          </a:prstGeom>
          <a:solidFill>
            <a:srgbClr val="FFFFFF"/>
          </a:solidFill>
          <a:ln w="19050">
            <a:solidFill>
              <a:srgbClr val="B3DFEF"/>
            </a:solidFill>
          </a:ln>
        </p:spPr>
        <p:txBody>
          <a:bodyPr wrap="square" lIns="228600" tIns="228600" rIns="228600" bIns="228600" anchor="t"/>
          <a:lstStyle/>
          <a:p>
            <a:pPr algn="l"/>
            <a:r>
              <a:rPr lang="en-GB" sz="2200" b="1">
                <a:solidFill>
                  <a:srgbClr val="00263D"/>
                </a:solidFill>
              </a:rPr>
              <a:t>AWA Convert</a:t>
            </a:r>
          </a:p>
          <a:p>
            <a:pPr algn="l"/>
            <a:r>
              <a:rPr lang="en-GB" sz="1300" b="1">
                <a:solidFill>
                  <a:srgbClr val="003462"/>
                </a:solidFill>
              </a:rPr>
              <a:t>Your documents, AI-ready, on your own machines</a:t>
            </a:r>
          </a:p>
          <a:p>
            <a:pPr algn="l"/>
            <a:r>
              <a:rPr lang="en-GB" sz="1000" b="0">
                <a:solidFill>
                  <a:srgbClr val="5B7A8C"/>
                </a:solidFill>
              </a:rPr>
              <a:t>the complete offer: AWA PDF, AWA Office and AWA Markdown together, plus conversion of your Word, OpenDocument, Excel, PowerPoint and PDF documents into Markdown for AI, and of Markdown into Word, OpenDocument or PDF</a:t>
            </a:r>
          </a:p>
        </p:txBody>
      </p:sp>
      <p:sp>
        <p:nvSpPr>
          <p:cNvPr id="11" name="Shape 11"/>
          <p:cNvSpPr>
            <a:spLocks noGrp="1"/>
          </p:cNvSpPr>
          <p:nvPr/>
        </p:nvSpPr>
        <p:spPr>
          <a:xfrm>
            <a:off x="1051560" y="5074920"/>
            <a:ext cx="1973504" cy="777240"/>
          </a:xfrm>
          <a:prstGeom prst="roundRect">
            <a:avLst/>
          </a:prstGeom>
          <a:solidFill>
            <a:srgbClr val="00263D"/>
          </a:solidFill>
          <a:ln>
            <a:noFill/>
          </a:ln>
        </p:spPr>
        <p:txBody>
          <a:bodyPr wrap="square" lIns="137160" tIns="137160" rIns="137160" bIns="137160" anchor="ctr"/>
          <a:lstStyle/>
          <a:p>
            <a:pPr algn="ctr"/>
            <a:r>
              <a:rPr lang="en-GB" sz="2000" b="1">
                <a:solidFill>
                  <a:srgbClr val="FFFFFF"/>
                </a:solidFill>
              </a:rPr>
              <a:t>€8,900</a:t>
            </a:r>
          </a:p>
          <a:p>
            <a:pPr algn="ctr"/>
            <a:r>
              <a:rPr lang="en-GB" sz="900" b="0">
                <a:solidFill>
                  <a:srgbClr val="B3DFEF"/>
                </a:solidFill>
              </a:rPr>
              <a:t>excl. VAT per application per year</a:t>
            </a:r>
          </a:p>
        </p:txBody>
      </p:sp>
      <p:sp>
        <p:nvSpPr>
          <p:cNvPr id="12" name="Shape 12"/>
          <p:cNvSpPr>
            <a:spLocks noGrp="1"/>
          </p:cNvSpPr>
          <p:nvPr/>
        </p:nvSpPr>
        <p:spPr>
          <a:xfrm>
            <a:off x="3527984" y="1463040"/>
            <a:ext cx="2430704" cy="4572000"/>
          </a:xfrm>
          <a:prstGeom prst="roundRect">
            <a:avLst/>
          </a:prstGeom>
          <a:solidFill>
            <a:srgbClr val="FFFFFF"/>
          </a:solidFill>
          <a:ln w="19050">
            <a:solidFill>
              <a:srgbClr val="B3DFEF"/>
            </a:solidFill>
          </a:ln>
        </p:spPr>
        <p:txBody>
          <a:bodyPr wrap="square" lIns="228600" tIns="228600" rIns="228600" bIns="228600" anchor="t"/>
          <a:lstStyle/>
          <a:p>
            <a:pPr algn="l"/>
            <a:r>
              <a:rPr lang="en-GB" sz="2200" b="1">
                <a:solidFill>
                  <a:srgbClr val="00263D"/>
                </a:solidFill>
              </a:rPr>
              <a:t>AWA PDF</a:t>
            </a:r>
          </a:p>
          <a:p>
            <a:pPr algn="l"/>
            <a:r>
              <a:rPr lang="en-GB" sz="1300" b="1">
                <a:solidFill>
                  <a:srgbClr val="003462"/>
                </a:solidFill>
              </a:rPr>
              <a:t>Produce, protect and check PDF, with no infrastructure</a:t>
            </a:r>
          </a:p>
          <a:p>
            <a:pPr algn="l"/>
            <a:r>
              <a:rPr lang="en-GB" sz="1000" b="0">
                <a:solidFill>
                  <a:srgbClr val="5B7A8C"/>
                </a:solidFill>
              </a:rPr>
              <a:t>produces your PDFs, checks their accessibility (PDF/UA-1), signs (PAdES) and encrypts them</a:t>
            </a:r>
          </a:p>
        </p:txBody>
      </p:sp>
      <p:sp>
        <p:nvSpPr>
          <p:cNvPr id="13" name="Shape 13"/>
          <p:cNvSpPr>
            <a:spLocks noGrp="1"/>
          </p:cNvSpPr>
          <p:nvPr/>
        </p:nvSpPr>
        <p:spPr>
          <a:xfrm>
            <a:off x="3756584" y="5074920"/>
            <a:ext cx="1973504" cy="777240"/>
          </a:xfrm>
          <a:prstGeom prst="roundRect">
            <a:avLst/>
          </a:prstGeom>
          <a:solidFill>
            <a:srgbClr val="00263D"/>
          </a:solidFill>
          <a:ln>
            <a:noFill/>
          </a:ln>
        </p:spPr>
        <p:txBody>
          <a:bodyPr wrap="square" lIns="137160" tIns="137160" rIns="137160" bIns="137160" anchor="ctr"/>
          <a:lstStyle/>
          <a:p>
            <a:pPr algn="ctr"/>
            <a:r>
              <a:rPr lang="en-GB" sz="2000" b="1">
                <a:solidFill>
                  <a:srgbClr val="FFFFFF"/>
                </a:solidFill>
              </a:rPr>
              <a:t>€4,900</a:t>
            </a:r>
          </a:p>
          <a:p>
            <a:pPr algn="ctr"/>
            <a:r>
              <a:rPr lang="en-GB" sz="900" b="0">
                <a:solidFill>
                  <a:srgbClr val="B3DFEF"/>
                </a:solidFill>
              </a:rPr>
              <a:t>excl. VAT per application per year</a:t>
            </a:r>
          </a:p>
        </p:txBody>
      </p:sp>
      <p:sp>
        <p:nvSpPr>
          <p:cNvPr id="14" name="Shape 14"/>
          <p:cNvSpPr>
            <a:spLocks noGrp="1"/>
          </p:cNvSpPr>
          <p:nvPr/>
        </p:nvSpPr>
        <p:spPr>
          <a:xfrm>
            <a:off x="6233008" y="1463040"/>
            <a:ext cx="2430704" cy="4572000"/>
          </a:xfrm>
          <a:prstGeom prst="roundRect">
            <a:avLst/>
          </a:prstGeom>
          <a:solidFill>
            <a:srgbClr val="FFFFFF"/>
          </a:solidFill>
          <a:ln w="19050">
            <a:solidFill>
              <a:srgbClr val="B3DFEF"/>
            </a:solidFill>
          </a:ln>
        </p:spPr>
        <p:txBody>
          <a:bodyPr wrap="square" lIns="228600" tIns="228600" rIns="228600" bIns="228600" anchor="t"/>
          <a:lstStyle/>
          <a:p>
            <a:pPr algn="l"/>
            <a:r>
              <a:rPr lang="en-GB" sz="2200" b="1">
                <a:solidFill>
                  <a:srgbClr val="00263D"/>
                </a:solidFill>
              </a:rPr>
              <a:t>AWA Office</a:t>
            </a:r>
          </a:p>
          <a:p>
            <a:pPr algn="l"/>
            <a:r>
              <a:rPr lang="en-GB" sz="1300" b="1">
                <a:solidFill>
                  <a:srgbClr val="003462"/>
                </a:solidFill>
              </a:rPr>
              <a:t>Your Word, Excel, PowerPoint and OpenDocument documents, generated and read by your code</a:t>
            </a:r>
          </a:p>
          <a:p>
            <a:pPr algn="l"/>
            <a:r>
              <a:rPr lang="en-GB" sz="1000" b="0">
                <a:solidFill>
                  <a:srgbClr val="5B7A8C"/>
                </a:solidFill>
              </a:rPr>
              <a:t>reads and writes DOCX, XLSX, PPTX, ODT, ODS and ODP, with no third-party dependency</a:t>
            </a:r>
          </a:p>
        </p:txBody>
      </p:sp>
      <p:sp>
        <p:nvSpPr>
          <p:cNvPr id="15" name="Shape 15"/>
          <p:cNvSpPr>
            <a:spLocks noGrp="1"/>
          </p:cNvSpPr>
          <p:nvPr/>
        </p:nvSpPr>
        <p:spPr>
          <a:xfrm>
            <a:off x="6461608" y="5074920"/>
            <a:ext cx="1973504" cy="777240"/>
          </a:xfrm>
          <a:prstGeom prst="roundRect">
            <a:avLst/>
          </a:prstGeom>
          <a:solidFill>
            <a:srgbClr val="00263D"/>
          </a:solidFill>
          <a:ln>
            <a:noFill/>
          </a:ln>
        </p:spPr>
        <p:txBody>
          <a:bodyPr wrap="square" lIns="137160" tIns="137160" rIns="137160" bIns="137160" anchor="ctr"/>
          <a:lstStyle/>
          <a:p>
            <a:pPr algn="ctr"/>
            <a:r>
              <a:rPr lang="en-GB" sz="2000" b="1">
                <a:solidFill>
                  <a:srgbClr val="FFFFFF"/>
                </a:solidFill>
              </a:rPr>
              <a:t>€2,900</a:t>
            </a:r>
          </a:p>
          <a:p>
            <a:pPr algn="ctr"/>
            <a:r>
              <a:rPr lang="en-GB" sz="900" b="0">
                <a:solidFill>
                  <a:srgbClr val="B3DFEF"/>
                </a:solidFill>
              </a:rPr>
              <a:t>excl. VAT per application per year</a:t>
            </a:r>
          </a:p>
        </p:txBody>
      </p:sp>
      <p:sp>
        <p:nvSpPr>
          <p:cNvPr id="16" name="Shape 16"/>
          <p:cNvSpPr>
            <a:spLocks noGrp="1"/>
          </p:cNvSpPr>
          <p:nvPr/>
        </p:nvSpPr>
        <p:spPr>
          <a:xfrm>
            <a:off x="8938031" y="1463040"/>
            <a:ext cx="2430704" cy="4572000"/>
          </a:xfrm>
          <a:prstGeom prst="roundRect">
            <a:avLst/>
          </a:prstGeom>
          <a:solidFill>
            <a:srgbClr val="FFFFFF"/>
          </a:solidFill>
          <a:ln w="19050">
            <a:solidFill>
              <a:srgbClr val="B3DFEF"/>
            </a:solidFill>
          </a:ln>
        </p:spPr>
        <p:txBody>
          <a:bodyPr wrap="square" lIns="228600" tIns="228600" rIns="228600" bIns="228600" anchor="t"/>
          <a:lstStyle/>
          <a:p>
            <a:pPr algn="l"/>
            <a:r>
              <a:rPr lang="en-GB" sz="2200" b="1">
                <a:solidFill>
                  <a:srgbClr val="00263D"/>
                </a:solidFill>
              </a:rPr>
              <a:t>AWA Markdown</a:t>
            </a:r>
          </a:p>
          <a:p>
            <a:pPr algn="l"/>
            <a:r>
              <a:rPr lang="en-GB" sz="1300" b="1">
                <a:solidFill>
                  <a:srgbClr val="003462"/>
                </a:solidFill>
              </a:rPr>
              <a:t>Render Markdown you did not write, sanitized by default</a:t>
            </a:r>
          </a:p>
          <a:p>
            <a:pPr algn="l"/>
            <a:r>
              <a:rPr lang="en-GB" sz="1000" b="0">
                <a:solidFill>
                  <a:srgbClr val="5B7A8C"/>
                </a:solidFill>
              </a:rPr>
              <a:t>renders and rewrites untrusted Markdown, scripts and dangerous links blocked by default</a:t>
            </a:r>
          </a:p>
        </p:txBody>
      </p:sp>
      <p:sp>
        <p:nvSpPr>
          <p:cNvPr id="17" name="Shape 17"/>
          <p:cNvSpPr>
            <a:spLocks noGrp="1"/>
          </p:cNvSpPr>
          <p:nvPr/>
        </p:nvSpPr>
        <p:spPr>
          <a:xfrm>
            <a:off x="9166631" y="5074920"/>
            <a:ext cx="1973504" cy="777240"/>
          </a:xfrm>
          <a:prstGeom prst="roundRect">
            <a:avLst/>
          </a:prstGeom>
          <a:solidFill>
            <a:srgbClr val="00263D"/>
          </a:solidFill>
          <a:ln>
            <a:noFill/>
          </a:ln>
        </p:spPr>
        <p:txBody>
          <a:bodyPr wrap="square" lIns="137160" tIns="137160" rIns="137160" bIns="137160" anchor="ctr"/>
          <a:lstStyle/>
          <a:p>
            <a:pPr algn="ctr"/>
            <a:r>
              <a:rPr lang="en-GB" sz="2000" b="1">
                <a:solidFill>
                  <a:srgbClr val="FFFFFF"/>
                </a:solidFill>
              </a:rPr>
              <a:t>€490</a:t>
            </a:r>
          </a:p>
          <a:p>
            <a:pPr algn="ctr"/>
            <a:r>
              <a:rPr lang="en-GB" sz="900" b="0">
                <a:solidFill>
                  <a:srgbClr val="B3DFEF"/>
                </a:solidFill>
              </a:rPr>
              <a:t>excl. VAT per application per year</a:t>
            </a:r>
          </a:p>
        </p:txBody>
      </p:sp>
    </p:spTree>
  </p:cSld>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18" name="Shape 18"/>
          <p:cNvSpPr>
            <a:spLocks noGrp="1"/>
          </p:cNvSpPr>
          <p:nvPr/>
        </p:nvSpPr>
        <p:spPr>
          <a:xfrm>
            <a:off x="0" y="0"/>
            <a:ext cx="12191695" cy="6858000"/>
          </a:xfrm>
          <a:prstGeom prst="rect">
            <a:avLst/>
          </a:prstGeom>
          <a:solidFill>
            <a:srgbClr val="FFFFFF"/>
          </a:solidFill>
          <a:ln>
            <a:noFill/>
          </a:ln>
        </p:spPr>
        <p:txBody>
          <a:bodyPr wrap="square" lIns="137160" tIns="137160" rIns="137160" bIns="137160" anchor="t"/>
          <a:lstStyle/>
          <a:p>
            <a:pPr algn="l"/>
            <a:r>
              <a:rPr lang="en-GB" sz="1200" b="0">
                <a:solidFill>
                  <a:srgbClr val="00263D"/>
                </a:solidFill>
              </a:rPr>
              <a:t/>
            </a:r>
          </a:p>
        </p:txBody>
      </p:sp>
      <p:sp>
        <p:nvSpPr>
          <p:cNvPr id="19" name="Shape 19"/>
          <p:cNvSpPr>
            <a:spLocks noGrp="1"/>
          </p:cNvSpPr>
          <p:nvPr/>
        </p:nvSpPr>
        <p:spPr>
          <a:xfrm>
            <a:off x="0" y="0"/>
            <a:ext cx="3291840" cy="6858000"/>
          </a:xfrm>
          <a:prstGeom prst="rect">
            <a:avLst/>
          </a:prstGeom>
          <a:solidFill>
            <a:srgbClr val="00263D"/>
          </a:solidFill>
          <a:ln>
            <a:noFill/>
          </a:ln>
        </p:spPr>
        <p:txBody>
          <a:bodyPr wrap="square" lIns="137160" tIns="137160" rIns="137160" bIns="137160" anchor="t"/>
          <a:lstStyle/>
          <a:p>
            <a:pPr algn="l"/>
            <a:r>
              <a:rPr lang="en-GB" sz="1200" b="0">
                <a:solidFill>
                  <a:srgbClr val="00263D"/>
                </a:solidFill>
              </a:rPr>
              <a:t/>
            </a:r>
          </a:p>
        </p:txBody>
      </p:sp>
      <p:sp>
        <p:nvSpPr>
          <p:cNvPr id="20" name="Shape 20"/>
          <p:cNvSpPr>
            <a:spLocks noGrp="1"/>
          </p:cNvSpPr>
          <p:nvPr/>
        </p:nvSpPr>
        <p:spPr>
          <a:xfrm>
            <a:off x="457200" y="731520"/>
            <a:ext cx="2468880" cy="2011680"/>
          </a:xfrm>
          <a:prstGeom prst="rect">
            <a:avLst/>
          </a:prstGeom>
          <a:noFill/>
          <a:ln>
            <a:noFill/>
          </a:ln>
        </p:spPr>
        <p:txBody>
          <a:bodyPr wrap="square" lIns="137160" tIns="137160" rIns="137160" bIns="137160" anchor="b"/>
          <a:lstStyle/>
          <a:p>
            <a:pPr algn="l"/>
            <a:r>
              <a:rPr lang="en-GB" sz="3200" b="1">
                <a:solidFill>
                  <a:srgbClr val="FFFFFF"/>
                </a:solidFill>
              </a:rPr>
              <a:t>AWA Convert</a:t>
            </a:r>
          </a:p>
        </p:txBody>
      </p:sp>
      <p:sp>
        <p:nvSpPr>
          <p:cNvPr id="21" name="Shape 21"/>
          <p:cNvSpPr>
            <a:spLocks noGrp="1"/>
          </p:cNvSpPr>
          <p:nvPr/>
        </p:nvSpPr>
        <p:spPr>
          <a:xfrm>
            <a:off x="457200" y="2926080"/>
            <a:ext cx="2468880" cy="1097280"/>
          </a:xfrm>
          <a:prstGeom prst="rect">
            <a:avLst/>
          </a:prstGeom>
          <a:noFill/>
          <a:ln>
            <a:noFill/>
          </a:ln>
        </p:spPr>
        <p:txBody>
          <a:bodyPr wrap="square" lIns="137160" tIns="137160" rIns="137160" bIns="137160" anchor="t"/>
          <a:lstStyle/>
          <a:p>
            <a:pPr algn="l"/>
            <a:r>
              <a:rPr lang="en-GB" sz="2800" b="1">
                <a:solidFill>
                  <a:srgbClr val="B3DFEF"/>
                </a:solidFill>
              </a:rPr>
              <a:t>€8,900</a:t>
            </a:r>
          </a:p>
          <a:p>
            <a:pPr algn="l"/>
            <a:r>
              <a:rPr lang="en-GB" sz="1000" b="0">
                <a:solidFill>
                  <a:srgbClr val="B3DFEF"/>
                </a:solidFill>
              </a:rPr>
              <a:t>excl. VAT per application per year</a:t>
            </a:r>
          </a:p>
        </p:txBody>
      </p:sp>
      <p:sp>
        <p:nvSpPr>
          <p:cNvPr id="22" name="Shape 22"/>
          <p:cNvSpPr>
            <a:spLocks noGrp="1"/>
          </p:cNvSpPr>
          <p:nvPr/>
        </p:nvSpPr>
        <p:spPr>
          <a:xfrm>
            <a:off x="457200" y="5943600"/>
            <a:ext cx="2560320" cy="457200"/>
          </a:xfrm>
          <a:prstGeom prst="rect">
            <a:avLst/>
          </a:prstGeom>
          <a:noFill/>
          <a:ln>
            <a:noFill/>
          </a:ln>
        </p:spPr>
        <p:txBody>
          <a:bodyPr wrap="square" lIns="137160" tIns="137160" rIns="137160" bIns="137160" anchor="t"/>
          <a:lstStyle/>
          <a:p>
            <a:pPr algn="l"/>
            <a:r>
              <a:rPr lang="en-GB" sz="1200" b="1">
                <a:solidFill>
                  <a:srgbClr val="B3DFEF"/>
                </a:solidFill>
              </a:rPr>
              <a:t>awacloud.com</a:t>
            </a:r>
          </a:p>
        </p:txBody>
      </p:sp>
      <p:sp>
        <p:nvSpPr>
          <p:cNvPr id="23" name="Shape 23"/>
          <p:cNvSpPr>
            <a:spLocks noGrp="1"/>
          </p:cNvSpPr>
          <p:nvPr/>
        </p:nvSpPr>
        <p:spPr>
          <a:xfrm>
            <a:off x="3840480" y="731520"/>
            <a:ext cx="7498080" cy="1463040"/>
          </a:xfrm>
          <a:prstGeom prst="rect">
            <a:avLst/>
          </a:prstGeom>
          <a:noFill/>
          <a:ln>
            <a:noFill/>
          </a:ln>
        </p:spPr>
        <p:txBody>
          <a:bodyPr wrap="square" lIns="137160" tIns="137160" rIns="137160" bIns="137160" anchor="b"/>
          <a:lstStyle/>
          <a:p>
            <a:pPr algn="l"/>
            <a:r>
              <a:rPr lang="en-GB" sz="2800" b="1">
                <a:solidFill>
                  <a:srgbClr val="00263D"/>
                </a:solidFill>
              </a:rPr>
              <a:t>Your documents, AI-ready, on your own machines</a:t>
            </a:r>
          </a:p>
        </p:txBody>
      </p:sp>
      <p:sp>
        <p:nvSpPr>
          <p:cNvPr id="24" name="Shape 24"/>
          <p:cNvSpPr>
            <a:spLocks noGrp="1"/>
          </p:cNvSpPr>
          <p:nvPr/>
        </p:nvSpPr>
        <p:spPr>
          <a:xfrm>
            <a:off x="3840480" y="2286000"/>
            <a:ext cx="7498080" cy="1005840"/>
          </a:xfrm>
          <a:prstGeom prst="rect">
            <a:avLst/>
          </a:prstGeom>
          <a:noFill/>
          <a:ln>
            <a:noFill/>
          </a:ln>
        </p:spPr>
        <p:txBody>
          <a:bodyPr wrap="square" lIns="137160" tIns="137160" rIns="137160" bIns="137160" anchor="t"/>
          <a:lstStyle/>
          <a:p>
            <a:pPr algn="l"/>
            <a:r>
              <a:rPr lang="en-GB" sz="1400" b="0">
                <a:solidFill>
                  <a:srgbClr val="003462"/>
                </a:solidFill>
              </a:rPr>
              <a:t>Your assistant, agent or RAG pipeline needs to read contracts, spreadsheets and slide decks, then write its reports back as native Word or OpenDocument files.</a:t>
            </a:r>
          </a:p>
        </p:txBody>
      </p:sp>
      <p:sp>
        <p:nvSpPr>
          <p:cNvPr id="25" name="Shape 25"/>
          <p:cNvSpPr>
            <a:spLocks noGrp="1"/>
          </p:cNvSpPr>
          <p:nvPr/>
        </p:nvSpPr>
        <p:spPr>
          <a:xfrm>
            <a:off x="3840480" y="3566160"/>
            <a:ext cx="2326538" cy="2651760"/>
          </a:xfrm>
          <a:prstGeom prst="roundRect">
            <a:avLst/>
          </a:prstGeom>
          <a:solidFill>
            <a:srgbClr val="EEF6FA"/>
          </a:solidFill>
          <a:ln w="19050">
            <a:solidFill>
              <a:srgbClr val="B3DFEF"/>
            </a:solidFill>
          </a:ln>
        </p:spPr>
        <p:txBody>
          <a:bodyPr wrap="square" lIns="182880" tIns="182880" rIns="182880" bIns="182880" anchor="t"/>
          <a:lstStyle/>
          <a:p>
            <a:pPr algn="l"/>
            <a:r>
              <a:rPr lang="en-GB" sz="1600" b="1">
                <a:solidFill>
                  <a:srgbClr val="0078B3"/>
                </a:solidFill>
              </a:rPr>
              <a:t>Read</a:t>
            </a:r>
          </a:p>
          <a:p>
            <a:pPr algn="l"/>
            <a:r>
              <a:rPr lang="en-GB" sz="1150" b="0">
                <a:solidFill>
                  <a:srgbClr val="00263D"/>
                </a:solidFill>
              </a:rPr>
              <a:t>DOCX, ODT, XLSX and ODS to structured Markdown, a plain-text format that AI models read and write natively (headings, lists, tables, links kept).</a:t>
            </a:r>
          </a:p>
        </p:txBody>
      </p:sp>
      <p:sp>
        <p:nvSpPr>
          <p:cNvPr id="26" name="Shape 26"/>
          <p:cNvSpPr>
            <a:spLocks noGrp="1"/>
          </p:cNvSpPr>
          <p:nvPr/>
        </p:nvSpPr>
        <p:spPr>
          <a:xfrm>
            <a:off x="6441338" y="3566160"/>
            <a:ext cx="2326538" cy="2651760"/>
          </a:xfrm>
          <a:prstGeom prst="roundRect">
            <a:avLst/>
          </a:prstGeom>
          <a:solidFill>
            <a:srgbClr val="EEF6FA"/>
          </a:solidFill>
          <a:ln w="19050">
            <a:solidFill>
              <a:srgbClr val="B3DFEF"/>
            </a:solidFill>
          </a:ln>
        </p:spPr>
        <p:txBody>
          <a:bodyPr wrap="square" lIns="182880" tIns="182880" rIns="182880" bIns="182880" anchor="t"/>
          <a:lstStyle/>
          <a:p>
            <a:pPr algn="l"/>
            <a:r>
              <a:rPr lang="en-GB" sz="1600" b="1">
                <a:solidFill>
                  <a:srgbClr val="0078B3"/>
                </a:solidFill>
              </a:rPr>
              <a:t>Write</a:t>
            </a:r>
          </a:p>
          <a:p>
            <a:pPr algn="l"/>
            <a:r>
              <a:rPr lang="en-GB" sz="1150" b="0">
                <a:solidFill>
                  <a:srgbClr val="00263D"/>
                </a:solidFill>
              </a:rPr>
              <a:t>Markdown to DOCX, ODT or PDF.</a:t>
            </a:r>
          </a:p>
        </p:txBody>
      </p:sp>
      <p:sp>
        <p:nvSpPr>
          <p:cNvPr id="27" name="Shape 27"/>
          <p:cNvSpPr>
            <a:spLocks noGrp="1"/>
          </p:cNvSpPr>
          <p:nvPr/>
        </p:nvSpPr>
        <p:spPr>
          <a:xfrm>
            <a:off x="9042197" y="3566160"/>
            <a:ext cx="2326538" cy="2651760"/>
          </a:xfrm>
          <a:prstGeom prst="roundRect">
            <a:avLst/>
          </a:prstGeom>
          <a:solidFill>
            <a:srgbClr val="EEF6FA"/>
          </a:solidFill>
          <a:ln w="19050">
            <a:solidFill>
              <a:srgbClr val="B3DFEF"/>
            </a:solidFill>
          </a:ln>
        </p:spPr>
        <p:txBody>
          <a:bodyPr wrap="square" lIns="182880" tIns="182880" rIns="182880" bIns="182880" anchor="t"/>
          <a:lstStyle/>
          <a:p>
            <a:pPr algn="l"/>
            <a:r>
              <a:rPr lang="en-GB" sz="1600" b="1">
                <a:solidFill>
                  <a:srgbClr val="0078B3"/>
                </a:solidFill>
              </a:rPr>
              <a:t>Convert</a:t>
            </a:r>
          </a:p>
          <a:p>
            <a:pPr algn="l"/>
            <a:r>
              <a:rPr lang="en-GB" sz="1150" b="0">
                <a:solidFill>
                  <a:srgbClr val="00263D"/>
                </a:solidFill>
              </a:rPr>
              <a:t>DOCX ↔ ODT, DOCX and ODT to PDF.</a:t>
            </a:r>
          </a:p>
        </p:txBody>
      </p:sp>
    </p:spTree>
  </p:cSld>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28" name="Shape 28"/>
          <p:cNvSpPr>
            <a:spLocks noGrp="1"/>
          </p:cNvSpPr>
          <p:nvPr/>
        </p:nvSpPr>
        <p:spPr>
          <a:xfrm>
            <a:off x="0" y="0"/>
            <a:ext cx="12191695" cy="6858000"/>
          </a:xfrm>
          <a:prstGeom prst="rect">
            <a:avLst/>
          </a:prstGeom>
          <a:solidFill>
            <a:srgbClr val="FFFFFF"/>
          </a:solidFill>
          <a:ln>
            <a:noFill/>
          </a:ln>
        </p:spPr>
        <p:txBody>
          <a:bodyPr wrap="square" lIns="137160" tIns="137160" rIns="137160" bIns="137160" anchor="t"/>
          <a:lstStyle/>
          <a:p>
            <a:pPr algn="l"/>
            <a:r>
              <a:rPr lang="en-GB" sz="1200" b="0">
                <a:solidFill>
                  <a:srgbClr val="00263D"/>
                </a:solidFill>
              </a:rPr>
              <a:t/>
            </a:r>
          </a:p>
        </p:txBody>
      </p:sp>
      <p:sp>
        <p:nvSpPr>
          <p:cNvPr id="29" name="Shape 29"/>
          <p:cNvSpPr>
            <a:spLocks noGrp="1"/>
          </p:cNvSpPr>
          <p:nvPr/>
        </p:nvSpPr>
        <p:spPr>
          <a:xfrm>
            <a:off x="0" y="0"/>
            <a:ext cx="3291840" cy="6858000"/>
          </a:xfrm>
          <a:prstGeom prst="rect">
            <a:avLst/>
          </a:prstGeom>
          <a:solidFill>
            <a:srgbClr val="00263D"/>
          </a:solidFill>
          <a:ln>
            <a:noFill/>
          </a:ln>
        </p:spPr>
        <p:txBody>
          <a:bodyPr wrap="square" lIns="137160" tIns="137160" rIns="137160" bIns="137160" anchor="t"/>
          <a:lstStyle/>
          <a:p>
            <a:pPr algn="l"/>
            <a:r>
              <a:rPr lang="en-GB" sz="1200" b="0">
                <a:solidFill>
                  <a:srgbClr val="00263D"/>
                </a:solidFill>
              </a:rPr>
              <a:t/>
            </a:r>
          </a:p>
        </p:txBody>
      </p:sp>
      <p:sp>
        <p:nvSpPr>
          <p:cNvPr id="30" name="Shape 30"/>
          <p:cNvSpPr>
            <a:spLocks noGrp="1"/>
          </p:cNvSpPr>
          <p:nvPr/>
        </p:nvSpPr>
        <p:spPr>
          <a:xfrm>
            <a:off x="457200" y="731520"/>
            <a:ext cx="2468880" cy="2011680"/>
          </a:xfrm>
          <a:prstGeom prst="rect">
            <a:avLst/>
          </a:prstGeom>
          <a:noFill/>
          <a:ln>
            <a:noFill/>
          </a:ln>
        </p:spPr>
        <p:txBody>
          <a:bodyPr wrap="square" lIns="137160" tIns="137160" rIns="137160" bIns="137160" anchor="b"/>
          <a:lstStyle/>
          <a:p>
            <a:pPr algn="l"/>
            <a:r>
              <a:rPr lang="en-GB" sz="3200" b="1">
                <a:solidFill>
                  <a:srgbClr val="FFFFFF"/>
                </a:solidFill>
              </a:rPr>
              <a:t>AWA PDF</a:t>
            </a:r>
          </a:p>
        </p:txBody>
      </p:sp>
      <p:sp>
        <p:nvSpPr>
          <p:cNvPr id="31" name="Shape 31"/>
          <p:cNvSpPr>
            <a:spLocks noGrp="1"/>
          </p:cNvSpPr>
          <p:nvPr/>
        </p:nvSpPr>
        <p:spPr>
          <a:xfrm>
            <a:off x="457200" y="2926080"/>
            <a:ext cx="2468880" cy="1097280"/>
          </a:xfrm>
          <a:prstGeom prst="rect">
            <a:avLst/>
          </a:prstGeom>
          <a:noFill/>
          <a:ln>
            <a:noFill/>
          </a:ln>
        </p:spPr>
        <p:txBody>
          <a:bodyPr wrap="square" lIns="137160" tIns="137160" rIns="137160" bIns="137160" anchor="t"/>
          <a:lstStyle/>
          <a:p>
            <a:pPr algn="l"/>
            <a:r>
              <a:rPr lang="en-GB" sz="2800" b="1">
                <a:solidFill>
                  <a:srgbClr val="B3DFEF"/>
                </a:solidFill>
              </a:rPr>
              <a:t>€4,900</a:t>
            </a:r>
          </a:p>
          <a:p>
            <a:pPr algn="l"/>
            <a:r>
              <a:rPr lang="en-GB" sz="1000" b="0">
                <a:solidFill>
                  <a:srgbClr val="B3DFEF"/>
                </a:solidFill>
              </a:rPr>
              <a:t>excl. VAT per application per year</a:t>
            </a:r>
          </a:p>
        </p:txBody>
      </p:sp>
      <p:sp>
        <p:nvSpPr>
          <p:cNvPr id="32" name="Shape 32"/>
          <p:cNvSpPr>
            <a:spLocks noGrp="1"/>
          </p:cNvSpPr>
          <p:nvPr/>
        </p:nvSpPr>
        <p:spPr>
          <a:xfrm>
            <a:off x="457200" y="5943600"/>
            <a:ext cx="2560320" cy="457200"/>
          </a:xfrm>
          <a:prstGeom prst="rect">
            <a:avLst/>
          </a:prstGeom>
          <a:noFill/>
          <a:ln>
            <a:noFill/>
          </a:ln>
        </p:spPr>
        <p:txBody>
          <a:bodyPr wrap="square" lIns="137160" tIns="137160" rIns="137160" bIns="137160" anchor="t"/>
          <a:lstStyle/>
          <a:p>
            <a:pPr algn="l"/>
            <a:r>
              <a:rPr lang="en-GB" sz="1200" b="1">
                <a:solidFill>
                  <a:srgbClr val="B3DFEF"/>
                </a:solidFill>
              </a:rPr>
              <a:t>awacloud.com</a:t>
            </a:r>
          </a:p>
        </p:txBody>
      </p:sp>
      <p:sp>
        <p:nvSpPr>
          <p:cNvPr id="33" name="Shape 33"/>
          <p:cNvSpPr>
            <a:spLocks noGrp="1"/>
          </p:cNvSpPr>
          <p:nvPr/>
        </p:nvSpPr>
        <p:spPr>
          <a:xfrm>
            <a:off x="3840480" y="731520"/>
            <a:ext cx="7498080" cy="1463040"/>
          </a:xfrm>
          <a:prstGeom prst="rect">
            <a:avLst/>
          </a:prstGeom>
          <a:noFill/>
          <a:ln>
            <a:noFill/>
          </a:ln>
        </p:spPr>
        <p:txBody>
          <a:bodyPr wrap="square" lIns="137160" tIns="137160" rIns="137160" bIns="137160" anchor="b"/>
          <a:lstStyle/>
          <a:p>
            <a:pPr algn="l"/>
            <a:r>
              <a:rPr lang="en-GB" sz="2800" b="1">
                <a:solidFill>
                  <a:srgbClr val="00263D"/>
                </a:solidFill>
              </a:rPr>
              <a:t>Produce, protect and check PDF, with no infrastructure</a:t>
            </a:r>
          </a:p>
        </p:txBody>
      </p:sp>
      <p:sp>
        <p:nvSpPr>
          <p:cNvPr id="34" name="Shape 34"/>
          <p:cNvSpPr>
            <a:spLocks noGrp="1"/>
          </p:cNvSpPr>
          <p:nvPr/>
        </p:nvSpPr>
        <p:spPr>
          <a:xfrm>
            <a:off x="3840480" y="2286000"/>
            <a:ext cx="7498080" cy="1005840"/>
          </a:xfrm>
          <a:prstGeom prst="rect">
            <a:avLst/>
          </a:prstGeom>
          <a:noFill/>
          <a:ln>
            <a:noFill/>
          </a:ln>
        </p:spPr>
        <p:txBody>
          <a:bodyPr wrap="square" lIns="137160" tIns="137160" rIns="137160" bIns="137160" anchor="t"/>
          <a:lstStyle/>
          <a:p>
            <a:pPr algn="l"/>
            <a:r>
              <a:rPr lang="en-GB" sz="1400" b="0">
                <a:solidFill>
                  <a:srgbClr val="003462"/>
                </a:solidFill>
              </a:rPr>
              <a:t>AWA PDF reads and writes PDF 2.0 (ISO 32000-2) and reads legacy PDF 1.7, in the browser, in a worker or on your server.</a:t>
            </a:r>
          </a:p>
        </p:txBody>
      </p:sp>
      <p:sp>
        <p:nvSpPr>
          <p:cNvPr id="35" name="Shape 35"/>
          <p:cNvSpPr>
            <a:spLocks noGrp="1"/>
          </p:cNvSpPr>
          <p:nvPr/>
        </p:nvSpPr>
        <p:spPr>
          <a:xfrm>
            <a:off x="3840480" y="3566160"/>
            <a:ext cx="2326538" cy="2651760"/>
          </a:xfrm>
          <a:prstGeom prst="roundRect">
            <a:avLst/>
          </a:prstGeom>
          <a:solidFill>
            <a:srgbClr val="EEF6FA"/>
          </a:solidFill>
          <a:ln w="19050">
            <a:solidFill>
              <a:srgbClr val="B3DFEF"/>
            </a:solidFill>
          </a:ln>
        </p:spPr>
        <p:txBody>
          <a:bodyPr wrap="square" lIns="182880" tIns="182880" rIns="182880" bIns="182880" anchor="t"/>
          <a:lstStyle/>
          <a:p>
            <a:pPr algn="l"/>
            <a:r>
              <a:rPr lang="en-GB" sz="1600" b="1">
                <a:solidFill>
                  <a:srgbClr val="0078B3"/>
                </a:solidFill>
              </a:rPr>
              <a:t>Produce</a:t>
            </a:r>
          </a:p>
          <a:p>
            <a:pPr algn="l"/>
            <a:r>
              <a:rPr lang="en-GB" sz="1150" b="0">
                <a:solidFill>
                  <a:srgbClr val="00263D"/>
                </a:solidFill>
              </a:rPr>
              <a:t>pages, text and images.</a:t>
            </a:r>
          </a:p>
        </p:txBody>
      </p:sp>
      <p:sp>
        <p:nvSpPr>
          <p:cNvPr id="36" name="Shape 36"/>
          <p:cNvSpPr>
            <a:spLocks noGrp="1"/>
          </p:cNvSpPr>
          <p:nvPr/>
        </p:nvSpPr>
        <p:spPr>
          <a:xfrm>
            <a:off x="6441338" y="3566160"/>
            <a:ext cx="2326538" cy="2651760"/>
          </a:xfrm>
          <a:prstGeom prst="roundRect">
            <a:avLst/>
          </a:prstGeom>
          <a:solidFill>
            <a:srgbClr val="EEF6FA"/>
          </a:solidFill>
          <a:ln w="19050">
            <a:solidFill>
              <a:srgbClr val="B3DFEF"/>
            </a:solidFill>
          </a:ln>
        </p:spPr>
        <p:txBody>
          <a:bodyPr wrap="square" lIns="182880" tIns="182880" rIns="182880" bIns="182880" anchor="t"/>
          <a:lstStyle/>
          <a:p>
            <a:pPr algn="l"/>
            <a:r>
              <a:rPr lang="en-GB" sz="1600" b="1">
                <a:solidFill>
                  <a:srgbClr val="0078B3"/>
                </a:solidFill>
              </a:rPr>
              <a:t>Protect</a:t>
            </a:r>
          </a:p>
          <a:p>
            <a:pPr algn="l"/>
            <a:r>
              <a:rPr lang="en-GB" sz="1150" b="0">
                <a:solidFill>
                  <a:srgbClr val="00263D"/>
                </a:solidFill>
              </a:rPr>
              <a:t>AES-256 encryption.</a:t>
            </a:r>
          </a:p>
        </p:txBody>
      </p:sp>
      <p:sp>
        <p:nvSpPr>
          <p:cNvPr id="37" name="Shape 37"/>
          <p:cNvSpPr>
            <a:spLocks noGrp="1"/>
          </p:cNvSpPr>
          <p:nvPr/>
        </p:nvSpPr>
        <p:spPr>
          <a:xfrm>
            <a:off x="9042197" y="3566160"/>
            <a:ext cx="2326538" cy="2651760"/>
          </a:xfrm>
          <a:prstGeom prst="roundRect">
            <a:avLst/>
          </a:prstGeom>
          <a:solidFill>
            <a:srgbClr val="EEF6FA"/>
          </a:solidFill>
          <a:ln w="19050">
            <a:solidFill>
              <a:srgbClr val="B3DFEF"/>
            </a:solidFill>
          </a:ln>
        </p:spPr>
        <p:txBody>
          <a:bodyPr wrap="square" lIns="182880" tIns="182880" rIns="182880" bIns="182880" anchor="t"/>
          <a:lstStyle/>
          <a:p>
            <a:pPr algn="l"/>
            <a:r>
              <a:rPr lang="en-GB" sz="1600" b="1">
                <a:solidFill>
                  <a:srgbClr val="0078B3"/>
                </a:solidFill>
              </a:rPr>
              <a:t>Sign</a:t>
            </a:r>
          </a:p>
          <a:p>
            <a:pPr algn="l"/>
            <a:r>
              <a:rPr lang="en-GB" sz="1150" b="0">
                <a:solidFill>
                  <a:srgbClr val="00263D"/>
                </a:solidFill>
              </a:rPr>
              <a:t>PAdES signatures — the European standard for signing PDF documents, recognised under eIDAS — produced in the browser (RSA-PSS, ECDSA, Ed25519), from level B-B up to B-LTA when your integration supplies the timestamp and revocation material.</a:t>
            </a:r>
          </a:p>
        </p:txBody>
      </p:sp>
    </p:spTree>
  </p:cSld>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38" name="Shape 38"/>
          <p:cNvSpPr>
            <a:spLocks noGrp="1"/>
          </p:cNvSpPr>
          <p:nvPr/>
        </p:nvSpPr>
        <p:spPr>
          <a:xfrm>
            <a:off x="0" y="0"/>
            <a:ext cx="12191695" cy="6858000"/>
          </a:xfrm>
          <a:prstGeom prst="rect">
            <a:avLst/>
          </a:prstGeom>
          <a:solidFill>
            <a:srgbClr val="FFFFFF"/>
          </a:solidFill>
          <a:ln>
            <a:noFill/>
          </a:ln>
        </p:spPr>
        <p:txBody>
          <a:bodyPr wrap="square" lIns="137160" tIns="137160" rIns="137160" bIns="137160" anchor="t"/>
          <a:lstStyle/>
          <a:p>
            <a:pPr algn="l"/>
            <a:r>
              <a:rPr lang="en-GB" sz="1200" b="0">
                <a:solidFill>
                  <a:srgbClr val="00263D"/>
                </a:solidFill>
              </a:rPr>
              <a:t/>
            </a:r>
          </a:p>
        </p:txBody>
      </p:sp>
      <p:sp>
        <p:nvSpPr>
          <p:cNvPr id="39" name="Shape 39"/>
          <p:cNvSpPr>
            <a:spLocks noGrp="1"/>
          </p:cNvSpPr>
          <p:nvPr/>
        </p:nvSpPr>
        <p:spPr>
          <a:xfrm>
            <a:off x="0" y="0"/>
            <a:ext cx="3291840" cy="6858000"/>
          </a:xfrm>
          <a:prstGeom prst="rect">
            <a:avLst/>
          </a:prstGeom>
          <a:solidFill>
            <a:srgbClr val="00263D"/>
          </a:solidFill>
          <a:ln>
            <a:noFill/>
          </a:ln>
        </p:spPr>
        <p:txBody>
          <a:bodyPr wrap="square" lIns="137160" tIns="137160" rIns="137160" bIns="137160" anchor="t"/>
          <a:lstStyle/>
          <a:p>
            <a:pPr algn="l"/>
            <a:r>
              <a:rPr lang="en-GB" sz="1200" b="0">
                <a:solidFill>
                  <a:srgbClr val="00263D"/>
                </a:solidFill>
              </a:rPr>
              <a:t/>
            </a:r>
          </a:p>
        </p:txBody>
      </p:sp>
      <p:sp>
        <p:nvSpPr>
          <p:cNvPr id="40" name="Shape 40"/>
          <p:cNvSpPr>
            <a:spLocks noGrp="1"/>
          </p:cNvSpPr>
          <p:nvPr/>
        </p:nvSpPr>
        <p:spPr>
          <a:xfrm>
            <a:off x="457200" y="731520"/>
            <a:ext cx="2468880" cy="2011680"/>
          </a:xfrm>
          <a:prstGeom prst="rect">
            <a:avLst/>
          </a:prstGeom>
          <a:noFill/>
          <a:ln>
            <a:noFill/>
          </a:ln>
        </p:spPr>
        <p:txBody>
          <a:bodyPr wrap="square" lIns="137160" tIns="137160" rIns="137160" bIns="137160" anchor="b"/>
          <a:lstStyle/>
          <a:p>
            <a:pPr algn="l"/>
            <a:r>
              <a:rPr lang="en-GB" sz="3200" b="1">
                <a:solidFill>
                  <a:srgbClr val="FFFFFF"/>
                </a:solidFill>
              </a:rPr>
              <a:t>AWA Office</a:t>
            </a:r>
          </a:p>
        </p:txBody>
      </p:sp>
      <p:sp>
        <p:nvSpPr>
          <p:cNvPr id="41" name="Shape 41"/>
          <p:cNvSpPr>
            <a:spLocks noGrp="1"/>
          </p:cNvSpPr>
          <p:nvPr/>
        </p:nvSpPr>
        <p:spPr>
          <a:xfrm>
            <a:off x="457200" y="2926080"/>
            <a:ext cx="2468880" cy="1097280"/>
          </a:xfrm>
          <a:prstGeom prst="rect">
            <a:avLst/>
          </a:prstGeom>
          <a:noFill/>
          <a:ln>
            <a:noFill/>
          </a:ln>
        </p:spPr>
        <p:txBody>
          <a:bodyPr wrap="square" lIns="137160" tIns="137160" rIns="137160" bIns="137160" anchor="t"/>
          <a:lstStyle/>
          <a:p>
            <a:pPr algn="l"/>
            <a:r>
              <a:rPr lang="en-GB" sz="2800" b="1">
                <a:solidFill>
                  <a:srgbClr val="B3DFEF"/>
                </a:solidFill>
              </a:rPr>
              <a:t>€2,900</a:t>
            </a:r>
          </a:p>
          <a:p>
            <a:pPr algn="l"/>
            <a:r>
              <a:rPr lang="en-GB" sz="1000" b="0">
                <a:solidFill>
                  <a:srgbClr val="B3DFEF"/>
                </a:solidFill>
              </a:rPr>
              <a:t>excl. VAT per application per year</a:t>
            </a:r>
          </a:p>
        </p:txBody>
      </p:sp>
      <p:sp>
        <p:nvSpPr>
          <p:cNvPr id="42" name="Shape 42"/>
          <p:cNvSpPr>
            <a:spLocks noGrp="1"/>
          </p:cNvSpPr>
          <p:nvPr/>
        </p:nvSpPr>
        <p:spPr>
          <a:xfrm>
            <a:off x="457200" y="5943600"/>
            <a:ext cx="2560320" cy="457200"/>
          </a:xfrm>
          <a:prstGeom prst="rect">
            <a:avLst/>
          </a:prstGeom>
          <a:noFill/>
          <a:ln>
            <a:noFill/>
          </a:ln>
        </p:spPr>
        <p:txBody>
          <a:bodyPr wrap="square" lIns="137160" tIns="137160" rIns="137160" bIns="137160" anchor="t"/>
          <a:lstStyle/>
          <a:p>
            <a:pPr algn="l"/>
            <a:r>
              <a:rPr lang="en-GB" sz="1200" b="1">
                <a:solidFill>
                  <a:srgbClr val="B3DFEF"/>
                </a:solidFill>
              </a:rPr>
              <a:t>awacloud.com</a:t>
            </a:r>
          </a:p>
        </p:txBody>
      </p:sp>
      <p:sp>
        <p:nvSpPr>
          <p:cNvPr id="43" name="Shape 43"/>
          <p:cNvSpPr>
            <a:spLocks noGrp="1"/>
          </p:cNvSpPr>
          <p:nvPr/>
        </p:nvSpPr>
        <p:spPr>
          <a:xfrm>
            <a:off x="3840480" y="731520"/>
            <a:ext cx="7498080" cy="1463040"/>
          </a:xfrm>
          <a:prstGeom prst="rect">
            <a:avLst/>
          </a:prstGeom>
          <a:noFill/>
          <a:ln>
            <a:noFill/>
          </a:ln>
        </p:spPr>
        <p:txBody>
          <a:bodyPr wrap="square" lIns="137160" tIns="137160" rIns="137160" bIns="137160" anchor="b"/>
          <a:lstStyle/>
          <a:p>
            <a:pPr algn="l"/>
            <a:r>
              <a:rPr lang="en-GB" sz="2800" b="1">
                <a:solidFill>
                  <a:srgbClr val="00263D"/>
                </a:solidFill>
              </a:rPr>
              <a:t>Your Word, Excel, PowerPoint and OpenDocument documents, generated and read by your code</a:t>
            </a:r>
          </a:p>
        </p:txBody>
      </p:sp>
      <p:sp>
        <p:nvSpPr>
          <p:cNvPr id="44" name="Shape 44"/>
          <p:cNvSpPr>
            <a:spLocks noGrp="1"/>
          </p:cNvSpPr>
          <p:nvPr/>
        </p:nvSpPr>
        <p:spPr>
          <a:xfrm>
            <a:off x="3840480" y="2286000"/>
            <a:ext cx="7498080" cy="1005840"/>
          </a:xfrm>
          <a:prstGeom prst="rect">
            <a:avLst/>
          </a:prstGeom>
          <a:noFill/>
          <a:ln>
            <a:noFill/>
          </a:ln>
        </p:spPr>
        <p:txBody>
          <a:bodyPr wrap="square" lIns="137160" tIns="137160" rIns="137160" bIns="137160" anchor="t"/>
          <a:lstStyle/>
          <a:p>
            <a:pPr algn="l"/>
            <a:r>
              <a:rPr lang="en-GB" sz="1400" b="0">
                <a:solidFill>
                  <a:srgbClr val="003462"/>
                </a:solidFill>
              </a:rPr>
              <a:t>A JavaScript library that reads and writes the six office formats (DOCX, XLSX, PPTX, ODT, ODS, ODP), without Microsoft Office, without LibreOffice, without a conversion server and with no third-party dependency: in the browser, in a worker or on your server.</a:t>
            </a:r>
          </a:p>
        </p:txBody>
      </p:sp>
      <p:sp>
        <p:nvSpPr>
          <p:cNvPr id="45" name="Shape 45"/>
          <p:cNvSpPr>
            <a:spLocks noGrp="1"/>
          </p:cNvSpPr>
          <p:nvPr/>
        </p:nvSpPr>
        <p:spPr>
          <a:xfrm>
            <a:off x="3840480" y="3566160"/>
            <a:ext cx="2326538" cy="2651760"/>
          </a:xfrm>
          <a:prstGeom prst="roundRect">
            <a:avLst/>
          </a:prstGeom>
          <a:solidFill>
            <a:srgbClr val="EEF6FA"/>
          </a:solidFill>
          <a:ln w="19050">
            <a:solidFill>
              <a:srgbClr val="B3DFEF"/>
            </a:solidFill>
          </a:ln>
        </p:spPr>
        <p:txBody>
          <a:bodyPr wrap="square" lIns="182880" tIns="182880" rIns="182880" bIns="182880" anchor="t"/>
          <a:lstStyle/>
          <a:p>
            <a:pPr algn="l"/>
            <a:r>
              <a:rPr lang="en-GB" sz="1600" b="1">
                <a:solidFill>
                  <a:srgbClr val="0078B3"/>
                </a:solidFill>
              </a:rPr>
              <a:t>Word (DOCX)</a:t>
            </a:r>
          </a:p>
          <a:p>
            <a:pPr algn="l"/>
            <a:r>
              <a:rPr lang="en-GB" sz="1150" b="0">
                <a:solidFill>
                  <a:srgbClr val="00263D"/>
                </a:solidFill>
              </a:rPr>
              <a:t>Paragraphs, formatting, tables, lists, links, images, charts, shapes, bookmarks, fields, headers and footers, notes, comments, tracked changes.</a:t>
            </a:r>
          </a:p>
        </p:txBody>
      </p:sp>
      <p:sp>
        <p:nvSpPr>
          <p:cNvPr id="46" name="Shape 46"/>
          <p:cNvSpPr>
            <a:spLocks noGrp="1"/>
          </p:cNvSpPr>
          <p:nvPr/>
        </p:nvSpPr>
        <p:spPr>
          <a:xfrm>
            <a:off x="6441338" y="3566160"/>
            <a:ext cx="2326538" cy="2651760"/>
          </a:xfrm>
          <a:prstGeom prst="roundRect">
            <a:avLst/>
          </a:prstGeom>
          <a:solidFill>
            <a:srgbClr val="EEF6FA"/>
          </a:solidFill>
          <a:ln w="19050">
            <a:solidFill>
              <a:srgbClr val="B3DFEF"/>
            </a:solidFill>
          </a:ln>
        </p:spPr>
        <p:txBody>
          <a:bodyPr wrap="square" lIns="182880" tIns="182880" rIns="182880" bIns="182880" anchor="t"/>
          <a:lstStyle/>
          <a:p>
            <a:pPr algn="l"/>
            <a:r>
              <a:rPr lang="en-GB" sz="1600" b="1">
                <a:solidFill>
                  <a:srgbClr val="0078B3"/>
                </a:solidFill>
              </a:rPr>
              <a:t>Mail merge and document assembly (Word)</a:t>
            </a:r>
          </a:p>
          <a:p>
            <a:pPr algn="l"/>
            <a:r>
              <a:rPr lang="en-GB" sz="1150" b="0">
                <a:solidFill>
                  <a:srgbClr val="00263D"/>
                </a:solidFill>
              </a:rPr>
              <a:t>You design the template in Word.</a:t>
            </a:r>
          </a:p>
        </p:txBody>
      </p:sp>
      <p:sp>
        <p:nvSpPr>
          <p:cNvPr id="47" name="Shape 47"/>
          <p:cNvSpPr>
            <a:spLocks noGrp="1"/>
          </p:cNvSpPr>
          <p:nvPr/>
        </p:nvSpPr>
        <p:spPr>
          <a:xfrm>
            <a:off x="9042197" y="3566160"/>
            <a:ext cx="2326538" cy="2651760"/>
          </a:xfrm>
          <a:prstGeom prst="roundRect">
            <a:avLst/>
          </a:prstGeom>
          <a:solidFill>
            <a:srgbClr val="EEF6FA"/>
          </a:solidFill>
          <a:ln w="19050">
            <a:solidFill>
              <a:srgbClr val="B3DFEF"/>
            </a:solidFill>
          </a:ln>
        </p:spPr>
        <p:txBody>
          <a:bodyPr wrap="square" lIns="182880" tIns="182880" rIns="182880" bIns="182880" anchor="t"/>
          <a:lstStyle/>
          <a:p>
            <a:pPr algn="l"/>
            <a:r>
              <a:rPr lang="en-GB" sz="1600" b="1">
                <a:solidFill>
                  <a:srgbClr val="0078B3"/>
                </a:solidFill>
              </a:rPr>
              <a:t>Excel (XLSX)</a:t>
            </a:r>
          </a:p>
          <a:p>
            <a:pPr algn="l"/>
            <a:r>
              <a:rPr lang="en-GB" sz="1150" b="0">
                <a:solidFill>
                  <a:srgbClr val="00263D"/>
                </a:solidFill>
              </a:rPr>
              <a:t>Workbooks, sheets, cells and references, styles, tables, conditional formatting, comments, drawings.</a:t>
            </a:r>
          </a:p>
        </p:txBody>
      </p:sp>
    </p:spTree>
  </p:cSld>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48" name="Shape 48"/>
          <p:cNvSpPr>
            <a:spLocks noGrp="1"/>
          </p:cNvSpPr>
          <p:nvPr/>
        </p:nvSpPr>
        <p:spPr>
          <a:xfrm>
            <a:off x="0" y="0"/>
            <a:ext cx="12191695" cy="6858000"/>
          </a:xfrm>
          <a:prstGeom prst="rect">
            <a:avLst/>
          </a:prstGeom>
          <a:solidFill>
            <a:srgbClr val="FFFFFF"/>
          </a:solidFill>
          <a:ln>
            <a:noFill/>
          </a:ln>
        </p:spPr>
        <p:txBody>
          <a:bodyPr wrap="square" lIns="137160" tIns="137160" rIns="137160" bIns="137160" anchor="t"/>
          <a:lstStyle/>
          <a:p>
            <a:pPr algn="l"/>
            <a:r>
              <a:rPr lang="en-GB" sz="1200" b="0">
                <a:solidFill>
                  <a:srgbClr val="00263D"/>
                </a:solidFill>
              </a:rPr>
              <a:t/>
            </a:r>
          </a:p>
        </p:txBody>
      </p:sp>
      <p:sp>
        <p:nvSpPr>
          <p:cNvPr id="49" name="Shape 49"/>
          <p:cNvSpPr>
            <a:spLocks noGrp="1"/>
          </p:cNvSpPr>
          <p:nvPr/>
        </p:nvSpPr>
        <p:spPr>
          <a:xfrm>
            <a:off x="0" y="0"/>
            <a:ext cx="3291840" cy="6858000"/>
          </a:xfrm>
          <a:prstGeom prst="rect">
            <a:avLst/>
          </a:prstGeom>
          <a:solidFill>
            <a:srgbClr val="00263D"/>
          </a:solidFill>
          <a:ln>
            <a:noFill/>
          </a:ln>
        </p:spPr>
        <p:txBody>
          <a:bodyPr wrap="square" lIns="137160" tIns="137160" rIns="137160" bIns="137160" anchor="t"/>
          <a:lstStyle/>
          <a:p>
            <a:pPr algn="l"/>
            <a:r>
              <a:rPr lang="en-GB" sz="1200" b="0">
                <a:solidFill>
                  <a:srgbClr val="00263D"/>
                </a:solidFill>
              </a:rPr>
              <a:t/>
            </a:r>
          </a:p>
        </p:txBody>
      </p:sp>
      <p:sp>
        <p:nvSpPr>
          <p:cNvPr id="50" name="Shape 50"/>
          <p:cNvSpPr>
            <a:spLocks noGrp="1"/>
          </p:cNvSpPr>
          <p:nvPr/>
        </p:nvSpPr>
        <p:spPr>
          <a:xfrm>
            <a:off x="457200" y="731520"/>
            <a:ext cx="2468880" cy="2011680"/>
          </a:xfrm>
          <a:prstGeom prst="rect">
            <a:avLst/>
          </a:prstGeom>
          <a:noFill/>
          <a:ln>
            <a:noFill/>
          </a:ln>
        </p:spPr>
        <p:txBody>
          <a:bodyPr wrap="square" lIns="137160" tIns="137160" rIns="137160" bIns="137160" anchor="b"/>
          <a:lstStyle/>
          <a:p>
            <a:pPr algn="l"/>
            <a:r>
              <a:rPr lang="en-GB" sz="3200" b="1">
                <a:solidFill>
                  <a:srgbClr val="FFFFFF"/>
                </a:solidFill>
              </a:rPr>
              <a:t>AWA Markdown</a:t>
            </a:r>
          </a:p>
        </p:txBody>
      </p:sp>
      <p:sp>
        <p:nvSpPr>
          <p:cNvPr id="51" name="Shape 51"/>
          <p:cNvSpPr>
            <a:spLocks noGrp="1"/>
          </p:cNvSpPr>
          <p:nvPr/>
        </p:nvSpPr>
        <p:spPr>
          <a:xfrm>
            <a:off x="457200" y="2926080"/>
            <a:ext cx="2468880" cy="1097280"/>
          </a:xfrm>
          <a:prstGeom prst="rect">
            <a:avLst/>
          </a:prstGeom>
          <a:noFill/>
          <a:ln>
            <a:noFill/>
          </a:ln>
        </p:spPr>
        <p:txBody>
          <a:bodyPr wrap="square" lIns="137160" tIns="137160" rIns="137160" bIns="137160" anchor="t"/>
          <a:lstStyle/>
          <a:p>
            <a:pPr algn="l"/>
            <a:r>
              <a:rPr lang="en-GB" sz="2800" b="1">
                <a:solidFill>
                  <a:srgbClr val="B3DFEF"/>
                </a:solidFill>
              </a:rPr>
              <a:t>€490</a:t>
            </a:r>
          </a:p>
          <a:p>
            <a:pPr algn="l"/>
            <a:r>
              <a:rPr lang="en-GB" sz="1000" b="0">
                <a:solidFill>
                  <a:srgbClr val="B3DFEF"/>
                </a:solidFill>
              </a:rPr>
              <a:t>excl. VAT per application per year</a:t>
            </a:r>
          </a:p>
        </p:txBody>
      </p:sp>
      <p:sp>
        <p:nvSpPr>
          <p:cNvPr id="52" name="Shape 52"/>
          <p:cNvSpPr>
            <a:spLocks noGrp="1"/>
          </p:cNvSpPr>
          <p:nvPr/>
        </p:nvSpPr>
        <p:spPr>
          <a:xfrm>
            <a:off x="457200" y="5943600"/>
            <a:ext cx="2560320" cy="457200"/>
          </a:xfrm>
          <a:prstGeom prst="rect">
            <a:avLst/>
          </a:prstGeom>
          <a:noFill/>
          <a:ln>
            <a:noFill/>
          </a:ln>
        </p:spPr>
        <p:txBody>
          <a:bodyPr wrap="square" lIns="137160" tIns="137160" rIns="137160" bIns="137160" anchor="t"/>
          <a:lstStyle/>
          <a:p>
            <a:pPr algn="l"/>
            <a:r>
              <a:rPr lang="en-GB" sz="1200" b="1">
                <a:solidFill>
                  <a:srgbClr val="B3DFEF"/>
                </a:solidFill>
              </a:rPr>
              <a:t>awacloud.com</a:t>
            </a:r>
          </a:p>
        </p:txBody>
      </p:sp>
      <p:sp>
        <p:nvSpPr>
          <p:cNvPr id="53" name="Shape 53"/>
          <p:cNvSpPr>
            <a:spLocks noGrp="1"/>
          </p:cNvSpPr>
          <p:nvPr/>
        </p:nvSpPr>
        <p:spPr>
          <a:xfrm>
            <a:off x="3840480" y="731520"/>
            <a:ext cx="7498080" cy="1463040"/>
          </a:xfrm>
          <a:prstGeom prst="rect">
            <a:avLst/>
          </a:prstGeom>
          <a:noFill/>
          <a:ln>
            <a:noFill/>
          </a:ln>
        </p:spPr>
        <p:txBody>
          <a:bodyPr wrap="square" lIns="137160" tIns="137160" rIns="137160" bIns="137160" anchor="b"/>
          <a:lstStyle/>
          <a:p>
            <a:pPr algn="l"/>
            <a:r>
              <a:rPr lang="en-GB" sz="2800" b="1">
                <a:solidFill>
                  <a:srgbClr val="00263D"/>
                </a:solidFill>
              </a:rPr>
              <a:t>Render Markdown you did not write, sanitized by default</a:t>
            </a:r>
          </a:p>
        </p:txBody>
      </p:sp>
      <p:sp>
        <p:nvSpPr>
          <p:cNvPr id="54" name="Shape 54"/>
          <p:cNvSpPr>
            <a:spLocks noGrp="1"/>
          </p:cNvSpPr>
          <p:nvPr/>
        </p:nvSpPr>
        <p:spPr>
          <a:xfrm>
            <a:off x="3840480" y="2286000"/>
            <a:ext cx="7498080" cy="1005840"/>
          </a:xfrm>
          <a:prstGeom prst="rect">
            <a:avLst/>
          </a:prstGeom>
          <a:noFill/>
          <a:ln>
            <a:noFill/>
          </a:ln>
        </p:spPr>
        <p:txBody>
          <a:bodyPr wrap="square" lIns="137160" tIns="137160" rIns="137160" bIns="137160" anchor="t"/>
          <a:lstStyle/>
          <a:p>
            <a:pPr algn="l"/>
            <a:r>
              <a:rPr lang="en-GB" sz="1400" b="0">
                <a:solidFill>
                  <a:srgbClr val="003462"/>
                </a:solidFill>
              </a:rPr>
              <a:t>AI answers and your users' content are untrusted input.</a:t>
            </a:r>
          </a:p>
        </p:txBody>
      </p:sp>
      <p:sp>
        <p:nvSpPr>
          <p:cNvPr id="55" name="Shape 55"/>
          <p:cNvSpPr>
            <a:spLocks noGrp="1"/>
          </p:cNvSpPr>
          <p:nvPr/>
        </p:nvSpPr>
        <p:spPr>
          <a:xfrm>
            <a:off x="3840480" y="3566160"/>
            <a:ext cx="2326538" cy="2651760"/>
          </a:xfrm>
          <a:prstGeom prst="roundRect">
            <a:avLst/>
          </a:prstGeom>
          <a:solidFill>
            <a:srgbClr val="EEF6FA"/>
          </a:solidFill>
          <a:ln w="19050">
            <a:solidFill>
              <a:srgbClr val="B3DFEF"/>
            </a:solidFill>
          </a:ln>
        </p:spPr>
        <p:txBody>
          <a:bodyPr wrap="square" lIns="182880" tIns="182880" rIns="182880" bIns="182880" anchor="t"/>
          <a:lstStyle/>
          <a:p>
            <a:pPr algn="l"/>
            <a:r>
              <a:rPr lang="en-GB" sz="1600" b="1">
                <a:solidFill>
                  <a:srgbClr val="0078B3"/>
                </a:solidFill>
              </a:rPr>
              <a:t>Render</a:t>
            </a:r>
          </a:p>
          <a:p>
            <a:pPr algn="l"/>
            <a:r>
              <a:rPr lang="en-GB" sz="1150" b="0">
                <a:solidFill>
                  <a:srgbClr val="00263D"/>
                </a:solidFill>
              </a:rPr>
              <a:t>Turns Markdown into display-ready HTML: headings, lists, links, images, code, plus the GitHub additions (tables, task lists, strikethrough, autolinks).</a:t>
            </a:r>
          </a:p>
        </p:txBody>
      </p:sp>
      <p:sp>
        <p:nvSpPr>
          <p:cNvPr id="56" name="Shape 56"/>
          <p:cNvSpPr>
            <a:spLocks noGrp="1"/>
          </p:cNvSpPr>
          <p:nvPr/>
        </p:nvSpPr>
        <p:spPr>
          <a:xfrm>
            <a:off x="6441338" y="3566160"/>
            <a:ext cx="2326538" cy="2651760"/>
          </a:xfrm>
          <a:prstGeom prst="roundRect">
            <a:avLst/>
          </a:prstGeom>
          <a:solidFill>
            <a:srgbClr val="EEF6FA"/>
          </a:solidFill>
          <a:ln w="19050">
            <a:solidFill>
              <a:srgbClr val="B3DFEF"/>
            </a:solidFill>
          </a:ln>
        </p:spPr>
        <p:txBody>
          <a:bodyPr wrap="square" lIns="182880" tIns="182880" rIns="182880" bIns="182880" anchor="t"/>
          <a:lstStyle/>
          <a:p>
            <a:pPr algn="l"/>
            <a:r>
              <a:rPr lang="en-GB" sz="1600" b="1">
                <a:solidFill>
                  <a:srgbClr val="0078B3"/>
                </a:solidFill>
              </a:rPr>
              <a:t>Rewrite</a:t>
            </a:r>
          </a:p>
          <a:p>
            <a:pPr algn="l"/>
            <a:r>
              <a:rPr lang="en-GB" sz="1150" b="0">
                <a:solidFill>
                  <a:srgbClr val="00263D"/>
                </a:solidFill>
              </a:rPr>
              <a:t>Gives access to the document's full tree, to rewrite links, shift headings or redact a passage before display or indexing.</a:t>
            </a:r>
          </a:p>
        </p:txBody>
      </p:sp>
      <p:sp>
        <p:nvSpPr>
          <p:cNvPr id="57" name="Shape 57"/>
          <p:cNvSpPr>
            <a:spLocks noGrp="1"/>
          </p:cNvSpPr>
          <p:nvPr/>
        </p:nvSpPr>
        <p:spPr>
          <a:xfrm>
            <a:off x="9042197" y="3566160"/>
            <a:ext cx="2326538" cy="2651760"/>
          </a:xfrm>
          <a:prstGeom prst="roundRect">
            <a:avLst/>
          </a:prstGeom>
          <a:solidFill>
            <a:srgbClr val="EEF6FA"/>
          </a:solidFill>
          <a:ln w="19050">
            <a:solidFill>
              <a:srgbClr val="B3DFEF"/>
            </a:solidFill>
          </a:ln>
        </p:spPr>
        <p:txBody>
          <a:bodyPr wrap="square" lIns="182880" tIns="182880" rIns="182880" bIns="182880" anchor="t"/>
          <a:lstStyle/>
          <a:p>
            <a:pPr algn="l"/>
            <a:r>
              <a:rPr lang="en-GB" sz="1600" b="1">
                <a:solidFill>
                  <a:srgbClr val="0078B3"/>
                </a:solidFill>
              </a:rPr>
              <a:t>Re-emit</a:t>
            </a:r>
          </a:p>
          <a:p>
            <a:pPr algn="l"/>
            <a:r>
              <a:rPr lang="en-GB" sz="1150" b="0">
                <a:solidFill>
                  <a:srgbClr val="00263D"/>
                </a:solidFill>
              </a:rPr>
              <a:t>After editing, writes CommonMark and GFM Markdown back without breaking its structure.</a:t>
            </a:r>
          </a:p>
        </p:txBody>
      </p:sp>
    </p:spTree>
  </p:cSld>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58" name="Shape 58"/>
          <p:cNvSpPr>
            <a:spLocks noGrp="1"/>
          </p:cNvSpPr>
          <p:nvPr/>
        </p:nvSpPr>
        <p:spPr>
          <a:xfrm>
            <a:off x="0" y="0"/>
            <a:ext cx="12191695" cy="6858000"/>
          </a:xfrm>
          <a:prstGeom prst="rect">
            <a:avLst/>
          </a:prstGeom>
          <a:solidFill>
            <a:srgbClr val="00263D"/>
          </a:solidFill>
          <a:ln>
            <a:noFill/>
          </a:ln>
        </p:spPr>
        <p:txBody>
          <a:bodyPr wrap="square" lIns="137160" tIns="137160" rIns="137160" bIns="137160" anchor="t"/>
          <a:lstStyle/>
          <a:p>
            <a:pPr algn="l"/>
            <a:r>
              <a:rPr lang="en-GB" sz="1200" b="0">
                <a:solidFill>
                  <a:srgbClr val="00263D"/>
                </a:solidFill>
              </a:rPr>
              <a:t/>
            </a:r>
          </a:p>
        </p:txBody>
      </p:sp>
      <p:pic>
        <p:nvPicPr>
          <p:cNvPr id="59" name="Picture 59" descr="AwaCloud"/>
          <p:cNvPicPr>
            <a:picLocks noChangeAspect="1"/>
          </p:cNvPicPr>
          <p:nvPr/>
        </p:nvPicPr>
        <p:blipFill>
          <a:blip r:embed="rId1"/>
          <a:stretch>
            <a:fillRect/>
          </a:stretch>
        </p:blipFill>
        <p:spPr>
          <a:xfrm>
            <a:off x="5455768" y="822960"/>
            <a:ext cx="1280160" cy="1280160"/>
          </a:xfrm>
          <a:prstGeom prst="rect">
            <a:avLst/>
          </a:prstGeom>
        </p:spPr>
      </p:pic>
      <p:sp>
        <p:nvSpPr>
          <p:cNvPr id="60" name="Shape 60"/>
          <p:cNvSpPr>
            <a:spLocks noGrp="1"/>
          </p:cNvSpPr>
          <p:nvPr/>
        </p:nvSpPr>
        <p:spPr>
          <a:xfrm>
            <a:off x="914400" y="2377440"/>
            <a:ext cx="10362895" cy="1005840"/>
          </a:xfrm>
          <a:prstGeom prst="rect">
            <a:avLst/>
          </a:prstGeom>
          <a:noFill/>
          <a:ln>
            <a:noFill/>
          </a:ln>
        </p:spPr>
        <p:txBody>
          <a:bodyPr wrap="square" lIns="137160" tIns="137160" rIns="137160" bIns="137160" anchor="ctr"/>
          <a:lstStyle/>
          <a:p>
            <a:pPr algn="ctr"/>
            <a:r>
              <a:rPr lang="en-GB" sz="3600" b="1">
                <a:solidFill>
                  <a:srgbClr val="FFFFFF"/>
                </a:solidFill>
              </a:rPr>
              <a:t>Try the demos · Buy a licence</a:t>
            </a:r>
          </a:p>
        </p:txBody>
      </p:sp>
      <p:sp>
        <p:nvSpPr>
          <p:cNvPr id="61" name="Shape 61"/>
          <p:cNvSpPr>
            <a:spLocks noGrp="1"/>
          </p:cNvSpPr>
          <p:nvPr/>
        </p:nvSpPr>
        <p:spPr>
          <a:xfrm>
            <a:off x="914400" y="3474720"/>
            <a:ext cx="10362895" cy="731520"/>
          </a:xfrm>
          <a:prstGeom prst="rect">
            <a:avLst/>
          </a:prstGeom>
          <a:noFill/>
          <a:ln>
            <a:noFill/>
          </a:ln>
        </p:spPr>
        <p:txBody>
          <a:bodyPr wrap="square" lIns="137160" tIns="137160" rIns="137160" bIns="137160" anchor="ctr"/>
          <a:lstStyle/>
          <a:p>
            <a:pPr algn="ctr"/>
            <a:r>
              <a:rPr lang="en-GB" sz="2400" b="1">
                <a:solidFill>
                  <a:srgbClr val="B3DFEF"/>
                </a:solidFill>
              </a:rPr>
              <a:t>awacloud.com/offers</a:t>
            </a:r>
          </a:p>
        </p:txBody>
      </p:sp>
      <p:sp>
        <p:nvSpPr>
          <p:cNvPr id="62" name="Shape 62"/>
          <p:cNvSpPr>
            <a:spLocks noGrp="1"/>
          </p:cNvSpPr>
          <p:nvPr/>
        </p:nvSpPr>
        <p:spPr>
          <a:xfrm>
            <a:off x="1371600" y="5577840"/>
            <a:ext cx="9448495" cy="822960"/>
          </a:xfrm>
          <a:prstGeom prst="rect">
            <a:avLst/>
          </a:prstGeom>
          <a:noFill/>
          <a:ln>
            <a:noFill/>
          </a:ln>
        </p:spPr>
        <p:txBody>
          <a:bodyPr wrap="square" lIns="137160" tIns="137160" rIns="137160" bIns="137160" anchor="b"/>
          <a:lstStyle/>
          <a:p>
            <a:pPr algn="ctr"/>
            <a:r>
              <a:rPr lang="en-GB" sz="1100" b="0">
                <a:solidFill>
                  <a:srgbClr val="B3DFEF"/>
                </a:solidFill>
              </a:rPr>
              <a:t>Made with AWA Office by AwaCloud. Opened here by AWA Viewer, on your device: nothing was uploaded. Offers and pricing: awacloud.com/offers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xmlns:a="http://schemas.openxmlformats.org/drawingml/2006/main" name="Office">
      <a:fillStyleLst>
        <a:solidFill>
          <a:schemeClr val="phClr"/>
        </a:solidFill>
        <a:solidFill>
          <a:schemeClr val="phClr"/>
        </a:solidFill>
        <a:solidFill>
          <a:schemeClr val="phClr"/>
        </a:soli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