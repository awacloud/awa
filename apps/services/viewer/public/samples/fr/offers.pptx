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media/image1.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media/image2.png" ContentType="image/png"/>
  <Override PartName="/ppt/slides/slide7.xml" ContentType="application/vnd.openxmlformats-officedocument.presentationml.slide+xml"/>
  <Override PartName="/ppt/presentation.xml" ContentType="application/vnd.openxmlformats-officedocument.presentationml.presentation.mai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Master1"/>
  </p:sldMasterIdLst>
  <p:sldIdLst>
    <p:sldId id="256" r:id="rIdSlide1"/>
    <p:sldId id="257" r:id="rIdSlide2"/>
    <p:sldId id="258" r:id="rIdSlide3"/>
    <p:sldId id="259" r:id="rIdSlide4"/>
    <p:sldId id="260" r:id="rIdSlide5"/>
    <p:sldId id="261" r:id="rIdSlide6"/>
    <p:sldId id="262" r:id="rIdSlide7"/>
  </p:sldIdLst>
  <p:sldSz cx="12191695" cy="6858000"/>
  <p:notesSz cx="6858000" cy="9144000"/>
</p:presentation>
</file>

<file path=ppt/_rels/presentation.xml.rels><?xml version="1.0" encoding="UTF-8" standalone="yes"?>
<Relationships xmlns="http://schemas.openxmlformats.org/package/2006/relationships"><Relationship Id="rIdMaster1" Type="http://schemas.openxmlformats.org/officeDocument/2006/relationships/slideMaster" Target="slideMasters/slide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obj">
  <p:cSld name="Title and Content">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a:spLocks noGrp="1"/>
          </p:cNvSpPr>
          <p:nvPr/>
        </p:nvSpPr>
        <p:spPr>
          <a:xfrm>
            <a:off x="0" y="0"/>
            <a:ext cx="12191695" cy="6858000"/>
          </a:xfrm>
          <a:prstGeom prst="rect">
            <a:avLst/>
          </a:prstGeom>
          <a:solidFill>
            <a:srgbClr val="00263D"/>
          </a:solidFill>
          <a:ln>
            <a:noFill/>
          </a:ln>
        </p:spPr>
        <p:txBody>
          <a:bodyPr wrap="square" lIns="137160" tIns="137160" rIns="137160" bIns="137160" anchor="t"/>
          <a:lstStyle/>
          <a:p>
            <a:pPr algn="l"/>
            <a:r>
              <a:rPr lang="fr-FR" sz="1200" b="0">
                <a:solidFill>
                  <a:srgbClr val="00263D"/>
                </a:solidFill>
              </a:rPr>
              <a:t/>
            </a:r>
          </a:p>
        </p:txBody>
      </p:sp>
      <p:sp>
        <p:nvSpPr>
          <p:cNvPr id="3" name="Shape 3"/>
          <p:cNvSpPr>
            <a:spLocks noGrp="1"/>
          </p:cNvSpPr>
          <p:nvPr/>
        </p:nvSpPr>
        <p:spPr>
          <a:xfrm>
            <a:off x="0" y="6693408"/>
            <a:ext cx="12191695" cy="164592"/>
          </a:xfrm>
          <a:prstGeom prst="rect">
            <a:avLst/>
          </a:prstGeom>
          <a:solidFill>
            <a:srgbClr val="B3DFEF"/>
          </a:solidFill>
          <a:ln>
            <a:noFill/>
          </a:ln>
        </p:spPr>
        <p:txBody>
          <a:bodyPr wrap="square" lIns="137160" tIns="137160" rIns="137160" bIns="137160" anchor="t"/>
          <a:lstStyle/>
          <a:p>
            <a:pPr algn="l"/>
            <a:r>
              <a:rPr lang="fr-FR" sz="1200" b="0">
                <a:solidFill>
                  <a:srgbClr val="00263D"/>
                </a:solidFill>
              </a:rPr>
              <a:t/>
            </a:r>
          </a:p>
        </p:txBody>
      </p:sp>
      <p:pic>
        <p:nvPicPr>
          <p:cNvPr id="4" name="Picture 4" descr="AwaCloud"/>
          <p:cNvPicPr>
            <a:picLocks noChangeAspect="1"/>
          </p:cNvPicPr>
          <p:nvPr/>
        </p:nvPicPr>
        <p:blipFill>
          <a:blip r:embed="rId1"/>
          <a:stretch>
            <a:fillRect/>
          </a:stretch>
        </p:blipFill>
        <p:spPr>
          <a:xfrm>
            <a:off x="822960" y="822960"/>
            <a:ext cx="1280160" cy="1280160"/>
          </a:xfrm>
          <a:prstGeom prst="rect">
            <a:avLst/>
          </a:prstGeom>
        </p:spPr>
      </p:pic>
      <p:sp>
        <p:nvSpPr>
          <p:cNvPr id="5" name="Shape 5"/>
          <p:cNvSpPr>
            <a:spLocks noGrp="1"/>
          </p:cNvSpPr>
          <p:nvPr/>
        </p:nvSpPr>
        <p:spPr>
          <a:xfrm>
            <a:off x="822960" y="2468880"/>
            <a:ext cx="10515600" cy="1188720"/>
          </a:xfrm>
          <a:prstGeom prst="rect">
            <a:avLst/>
          </a:prstGeom>
          <a:noFill/>
          <a:ln>
            <a:noFill/>
          </a:ln>
        </p:spPr>
        <p:txBody>
          <a:bodyPr wrap="square" lIns="137160" tIns="137160" rIns="137160" bIns="137160" anchor="b"/>
          <a:lstStyle/>
          <a:p>
            <a:pPr algn="l"/>
            <a:r>
              <a:rPr lang="fr-FR" sz="4800" b="1">
                <a:solidFill>
                  <a:srgbClr val="FFFFFF"/>
                </a:solidFill>
              </a:rPr>
              <a:t>Offres et tarifs</a:t>
            </a:r>
          </a:p>
        </p:txBody>
      </p:sp>
      <p:sp>
        <p:nvSpPr>
          <p:cNvPr id="6" name="Shape 6"/>
          <p:cNvSpPr>
            <a:spLocks noGrp="1"/>
          </p:cNvSpPr>
          <p:nvPr/>
        </p:nvSpPr>
        <p:spPr>
          <a:xfrm>
            <a:off x="822960" y="3749040"/>
            <a:ext cx="9601200" cy="1463040"/>
          </a:xfrm>
          <a:prstGeom prst="rect">
            <a:avLst/>
          </a:prstGeom>
          <a:noFill/>
          <a:ln>
            <a:noFill/>
          </a:ln>
        </p:spPr>
        <p:txBody>
          <a:bodyPr wrap="square" lIns="137160" tIns="137160" rIns="137160" bIns="137160" anchor="t"/>
          <a:lstStyle/>
          <a:p>
            <a:pPr algn="l"/>
            <a:r>
              <a:rPr lang="fr-FR" sz="2000" b="0">
                <a:solidFill>
                  <a:srgbClr val="B3DFEF"/>
                </a:solidFill>
              </a:rPr>
              <a:t>Des bibliothèques JavaScript qui traitent vos documents Word, OpenDocument, Excel, PowerPoint, PDF et Markdown chez vous.</a:t>
            </a:r>
          </a:p>
        </p:txBody>
      </p:sp>
      <p:sp>
        <p:nvSpPr>
          <p:cNvPr id="7" name="Shape 7"/>
          <p:cNvSpPr>
            <a:spLocks noGrp="1"/>
          </p:cNvSpPr>
          <p:nvPr/>
        </p:nvSpPr>
        <p:spPr>
          <a:xfrm>
            <a:off x="822960" y="5852160"/>
            <a:ext cx="5486400" cy="457200"/>
          </a:xfrm>
          <a:prstGeom prst="rect">
            <a:avLst/>
          </a:prstGeom>
          <a:noFill/>
          <a:ln>
            <a:noFill/>
          </a:ln>
        </p:spPr>
        <p:txBody>
          <a:bodyPr wrap="square" lIns="137160" tIns="137160" rIns="137160" bIns="137160" anchor="t"/>
          <a:lstStyle/>
          <a:p>
            <a:pPr algn="l"/>
            <a:r>
              <a:rPr lang="fr-FR" sz="1400" b="1">
                <a:solidFill>
                  <a:srgbClr val="B3DFEF"/>
                </a:solidFill>
              </a:rPr>
              <a:t>awacloud.com</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8" name="Shape 8"/>
          <p:cNvSpPr>
            <a:spLocks noGrp="1"/>
          </p:cNvSpPr>
          <p:nvPr/>
        </p:nvSpPr>
        <p:spPr>
          <a:xfrm>
            <a:off x="0" y="0"/>
            <a:ext cx="12191695" cy="6858000"/>
          </a:xfrm>
          <a:prstGeom prst="rect">
            <a:avLst/>
          </a:prstGeom>
          <a:solidFill>
            <a:srgbClr val="EEF6FA"/>
          </a:solidFill>
          <a:ln>
            <a:noFill/>
          </a:ln>
        </p:spPr>
        <p:txBody>
          <a:bodyPr wrap="square" lIns="137160" tIns="137160" rIns="137160" bIns="137160" anchor="t"/>
          <a:lstStyle/>
          <a:p>
            <a:pPr algn="l"/>
            <a:r>
              <a:rPr lang="fr-FR" sz="1200" b="0">
                <a:solidFill>
                  <a:srgbClr val="00263D"/>
                </a:solidFill>
              </a:rPr>
              <a:t/>
            </a:r>
          </a:p>
        </p:txBody>
      </p:sp>
      <p:sp>
        <p:nvSpPr>
          <p:cNvPr id="9" name="Shape 9"/>
          <p:cNvSpPr>
            <a:spLocks noGrp="1"/>
          </p:cNvSpPr>
          <p:nvPr/>
        </p:nvSpPr>
        <p:spPr>
          <a:xfrm>
            <a:off x="822960" y="457200"/>
            <a:ext cx="10515600" cy="822960"/>
          </a:xfrm>
          <a:prstGeom prst="rect">
            <a:avLst/>
          </a:prstGeom>
          <a:noFill/>
          <a:ln>
            <a:noFill/>
          </a:ln>
        </p:spPr>
        <p:txBody>
          <a:bodyPr wrap="square" lIns="137160" tIns="137160" rIns="137160" bIns="137160" anchor="ctr"/>
          <a:lstStyle/>
          <a:p>
            <a:pPr algn="l"/>
            <a:r>
              <a:rPr lang="fr-FR" sz="3200" b="1">
                <a:solidFill>
                  <a:srgbClr val="00263D"/>
                </a:solidFill>
              </a:rPr>
              <a:t>Offres et tarifs</a:t>
            </a:r>
          </a:p>
        </p:txBody>
      </p:sp>
      <p:sp>
        <p:nvSpPr>
          <p:cNvPr id="10" name="Shape 10"/>
          <p:cNvSpPr>
            <a:spLocks noGrp="1"/>
          </p:cNvSpPr>
          <p:nvPr/>
        </p:nvSpPr>
        <p:spPr>
          <a:xfrm>
            <a:off x="822960"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fr-FR" sz="2200" b="1">
                <a:solidFill>
                  <a:srgbClr val="00263D"/>
                </a:solidFill>
              </a:rPr>
              <a:t>AWA Convert</a:t>
            </a:r>
          </a:p>
          <a:p>
            <a:pPr algn="l"/>
            <a:r>
              <a:rPr lang="fr-FR" sz="1300" b="1">
                <a:solidFill>
                  <a:srgbClr val="003462"/>
                </a:solidFill>
              </a:rPr>
              <a:t>Vos documents, lisibles par une IA, en local</a:t>
            </a:r>
          </a:p>
          <a:p>
            <a:pPr algn="l"/>
            <a:r>
              <a:rPr lang="fr-FR" sz="1000" b="0">
                <a:solidFill>
                  <a:srgbClr val="5B7A8C"/>
                </a:solidFill>
              </a:rPr>
              <a:t>l'offre complète : AWA PDF, AWA Office et AWA Markdown réunis, plus la conversion de vos documents Word, OpenDocument, Excel, PowerPoint et PDF en Markdown pour l'IA, et du Markdown en Word, OpenDocument ou PDF</a:t>
            </a:r>
          </a:p>
        </p:txBody>
      </p:sp>
      <p:sp>
        <p:nvSpPr>
          <p:cNvPr id="11" name="Shape 11"/>
          <p:cNvSpPr>
            <a:spLocks noGrp="1"/>
          </p:cNvSpPr>
          <p:nvPr/>
        </p:nvSpPr>
        <p:spPr>
          <a:xfrm>
            <a:off x="1051560" y="5074920"/>
            <a:ext cx="1973504" cy="777240"/>
          </a:xfrm>
          <a:prstGeom prst="roundRect">
            <a:avLst/>
          </a:prstGeom>
          <a:solidFill>
            <a:srgbClr val="00263D"/>
          </a:solidFill>
          <a:ln>
            <a:noFill/>
          </a:ln>
        </p:spPr>
        <p:txBody>
          <a:bodyPr wrap="square" lIns="137160" tIns="137160" rIns="137160" bIns="137160" anchor="ctr"/>
          <a:lstStyle/>
          <a:p>
            <a:pPr algn="ctr"/>
            <a:r>
              <a:rPr lang="fr-FR" sz="2000" b="1">
                <a:solidFill>
                  <a:srgbClr val="FFFFFF"/>
                </a:solidFill>
              </a:rPr>
              <a:t>8 900 €</a:t>
            </a:r>
          </a:p>
          <a:p>
            <a:pPr algn="ctr"/>
            <a:r>
              <a:rPr lang="fr-FR" sz="900" b="0">
                <a:solidFill>
                  <a:srgbClr val="B3DFEF"/>
                </a:solidFill>
              </a:rPr>
              <a:t>HT par application et par an</a:t>
            </a:r>
          </a:p>
        </p:txBody>
      </p:sp>
      <p:sp>
        <p:nvSpPr>
          <p:cNvPr id="12" name="Shape 12"/>
          <p:cNvSpPr>
            <a:spLocks noGrp="1"/>
          </p:cNvSpPr>
          <p:nvPr/>
        </p:nvSpPr>
        <p:spPr>
          <a:xfrm>
            <a:off x="3527984"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fr-FR" sz="2200" b="1">
                <a:solidFill>
                  <a:srgbClr val="00263D"/>
                </a:solidFill>
              </a:rPr>
              <a:t>AWA PDF</a:t>
            </a:r>
          </a:p>
          <a:p>
            <a:pPr algn="l"/>
            <a:r>
              <a:rPr lang="fr-FR" sz="1300" b="1">
                <a:solidFill>
                  <a:srgbClr val="003462"/>
                </a:solidFill>
              </a:rPr>
              <a:t>Produire, protéger et contrôler du PDF, sans infrastructure</a:t>
            </a:r>
          </a:p>
          <a:p>
            <a:pPr algn="l"/>
            <a:r>
              <a:rPr lang="fr-FR" sz="1000" b="0">
                <a:solidFill>
                  <a:srgbClr val="5B7A8C"/>
                </a:solidFill>
              </a:rPr>
              <a:t>produit vos PDF, contrôle leur accessibilité (PDF/UA-1), les signe (PAdES) et les chiffre</a:t>
            </a:r>
          </a:p>
        </p:txBody>
      </p:sp>
      <p:sp>
        <p:nvSpPr>
          <p:cNvPr id="13" name="Shape 13"/>
          <p:cNvSpPr>
            <a:spLocks noGrp="1"/>
          </p:cNvSpPr>
          <p:nvPr/>
        </p:nvSpPr>
        <p:spPr>
          <a:xfrm>
            <a:off x="3756584" y="5074920"/>
            <a:ext cx="1973504" cy="777240"/>
          </a:xfrm>
          <a:prstGeom prst="roundRect">
            <a:avLst/>
          </a:prstGeom>
          <a:solidFill>
            <a:srgbClr val="00263D"/>
          </a:solidFill>
          <a:ln>
            <a:noFill/>
          </a:ln>
        </p:spPr>
        <p:txBody>
          <a:bodyPr wrap="square" lIns="137160" tIns="137160" rIns="137160" bIns="137160" anchor="ctr"/>
          <a:lstStyle/>
          <a:p>
            <a:pPr algn="ctr"/>
            <a:r>
              <a:rPr lang="fr-FR" sz="2000" b="1">
                <a:solidFill>
                  <a:srgbClr val="FFFFFF"/>
                </a:solidFill>
              </a:rPr>
              <a:t>4 900 €</a:t>
            </a:r>
          </a:p>
          <a:p>
            <a:pPr algn="ctr"/>
            <a:r>
              <a:rPr lang="fr-FR" sz="900" b="0">
                <a:solidFill>
                  <a:srgbClr val="B3DFEF"/>
                </a:solidFill>
              </a:rPr>
              <a:t>HT par application et par an</a:t>
            </a:r>
          </a:p>
        </p:txBody>
      </p:sp>
      <p:sp>
        <p:nvSpPr>
          <p:cNvPr id="14" name="Shape 14"/>
          <p:cNvSpPr>
            <a:spLocks noGrp="1"/>
          </p:cNvSpPr>
          <p:nvPr/>
        </p:nvSpPr>
        <p:spPr>
          <a:xfrm>
            <a:off x="6233008"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fr-FR" sz="2200" b="1">
                <a:solidFill>
                  <a:srgbClr val="00263D"/>
                </a:solidFill>
              </a:rPr>
              <a:t>AWA Office</a:t>
            </a:r>
          </a:p>
          <a:p>
            <a:pPr algn="l"/>
            <a:r>
              <a:rPr lang="fr-FR" sz="1300" b="1">
                <a:solidFill>
                  <a:srgbClr val="003462"/>
                </a:solidFill>
              </a:rPr>
              <a:t>Vos documents Word, Excel, PowerPoint et OpenDocument, générés et lus par votre code</a:t>
            </a:r>
          </a:p>
          <a:p>
            <a:pPr algn="l"/>
            <a:r>
              <a:rPr lang="fr-FR" sz="1000" b="0">
                <a:solidFill>
                  <a:srgbClr val="5B7A8C"/>
                </a:solidFill>
              </a:rPr>
              <a:t>lit et écrit DOCX, XLSX, PPTX, ODT, ODS et ODP, sans dépendance tierce</a:t>
            </a:r>
          </a:p>
        </p:txBody>
      </p:sp>
      <p:sp>
        <p:nvSpPr>
          <p:cNvPr id="15" name="Shape 15"/>
          <p:cNvSpPr>
            <a:spLocks noGrp="1"/>
          </p:cNvSpPr>
          <p:nvPr/>
        </p:nvSpPr>
        <p:spPr>
          <a:xfrm>
            <a:off x="6461608" y="5074920"/>
            <a:ext cx="1973504" cy="777240"/>
          </a:xfrm>
          <a:prstGeom prst="roundRect">
            <a:avLst/>
          </a:prstGeom>
          <a:solidFill>
            <a:srgbClr val="00263D"/>
          </a:solidFill>
          <a:ln>
            <a:noFill/>
          </a:ln>
        </p:spPr>
        <p:txBody>
          <a:bodyPr wrap="square" lIns="137160" tIns="137160" rIns="137160" bIns="137160" anchor="ctr"/>
          <a:lstStyle/>
          <a:p>
            <a:pPr algn="ctr"/>
            <a:r>
              <a:rPr lang="fr-FR" sz="2000" b="1">
                <a:solidFill>
                  <a:srgbClr val="FFFFFF"/>
                </a:solidFill>
              </a:rPr>
              <a:t>2 900 €</a:t>
            </a:r>
          </a:p>
          <a:p>
            <a:pPr algn="ctr"/>
            <a:r>
              <a:rPr lang="fr-FR" sz="900" b="0">
                <a:solidFill>
                  <a:srgbClr val="B3DFEF"/>
                </a:solidFill>
              </a:rPr>
              <a:t>HT par application et par an</a:t>
            </a:r>
          </a:p>
        </p:txBody>
      </p:sp>
      <p:sp>
        <p:nvSpPr>
          <p:cNvPr id="16" name="Shape 16"/>
          <p:cNvSpPr>
            <a:spLocks noGrp="1"/>
          </p:cNvSpPr>
          <p:nvPr/>
        </p:nvSpPr>
        <p:spPr>
          <a:xfrm>
            <a:off x="8938031"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fr-FR" sz="2200" b="1">
                <a:solidFill>
                  <a:srgbClr val="00263D"/>
                </a:solidFill>
              </a:rPr>
              <a:t>AWA Markdown</a:t>
            </a:r>
          </a:p>
          <a:p>
            <a:pPr algn="l"/>
            <a:r>
              <a:rPr lang="fr-FR" sz="1300" b="1">
                <a:solidFill>
                  <a:srgbClr val="003462"/>
                </a:solidFill>
              </a:rPr>
              <a:t>Afficher du Markdown que vous n'avez pas écrit, assaini par défaut</a:t>
            </a:r>
          </a:p>
          <a:p>
            <a:pPr algn="l"/>
            <a:r>
              <a:rPr lang="fr-FR" sz="1000" b="0">
                <a:solidFill>
                  <a:srgbClr val="5B7A8C"/>
                </a:solidFill>
              </a:rPr>
              <a:t>affiche et réécrit du Markdown non fiable, scripts et liens dangereux bloqués par défaut</a:t>
            </a:r>
          </a:p>
        </p:txBody>
      </p:sp>
      <p:sp>
        <p:nvSpPr>
          <p:cNvPr id="17" name="Shape 17"/>
          <p:cNvSpPr>
            <a:spLocks noGrp="1"/>
          </p:cNvSpPr>
          <p:nvPr/>
        </p:nvSpPr>
        <p:spPr>
          <a:xfrm>
            <a:off x="9166631" y="5074920"/>
            <a:ext cx="1973504" cy="777240"/>
          </a:xfrm>
          <a:prstGeom prst="roundRect">
            <a:avLst/>
          </a:prstGeom>
          <a:solidFill>
            <a:srgbClr val="00263D"/>
          </a:solidFill>
          <a:ln>
            <a:noFill/>
          </a:ln>
        </p:spPr>
        <p:txBody>
          <a:bodyPr wrap="square" lIns="137160" tIns="137160" rIns="137160" bIns="137160" anchor="ctr"/>
          <a:lstStyle/>
          <a:p>
            <a:pPr algn="ctr"/>
            <a:r>
              <a:rPr lang="fr-FR" sz="2000" b="1">
                <a:solidFill>
                  <a:srgbClr val="FFFFFF"/>
                </a:solidFill>
              </a:rPr>
              <a:t>490 €</a:t>
            </a:r>
          </a:p>
          <a:p>
            <a:pPr algn="ctr"/>
            <a:r>
              <a:rPr lang="fr-FR" sz="900" b="0">
                <a:solidFill>
                  <a:srgbClr val="B3DFEF"/>
                </a:solidFill>
              </a:rPr>
              <a:t>HT par application et par an</a:t>
            </a:r>
          </a:p>
        </p:txBody>
      </p:sp>
      <p:sp>
        <p:nvSpPr>
          <p:cNvPr id="18" name="Shape 18"/>
          <p:cNvSpPr>
            <a:spLocks noGrp="1"/>
          </p:cNvSpPr>
          <p:nvPr/>
        </p:nvSpPr>
        <p:spPr>
          <a:xfrm>
            <a:off x="822960" y="6172200"/>
            <a:ext cx="10515600" cy="457200"/>
          </a:xfrm>
          <a:prstGeom prst="rect">
            <a:avLst/>
          </a:prstGeom>
          <a:noFill/>
          <a:ln>
            <a:noFill/>
          </a:ln>
        </p:spPr>
        <p:txBody>
          <a:bodyPr wrap="square" lIns="137160" tIns="137160" rIns="137160" bIns="137160" anchor="t"/>
          <a:lstStyle/>
          <a:p>
            <a:pPr algn="l"/>
            <a:r>
              <a:rPr lang="fr-FR" sz="1200" b="0">
                <a:solidFill>
                  <a:srgbClr val="5B7A8C"/>
                </a:solidFill>
              </a:rPr>
              <a:t>Socle AWA (framework et outils) — Gratuit, Apache-2.0</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9" name="Shape 19"/>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fr-FR" sz="1200" b="0">
                <a:solidFill>
                  <a:srgbClr val="00263D"/>
                </a:solidFill>
              </a:rPr>
              <a:t/>
            </a:r>
          </a:p>
        </p:txBody>
      </p:sp>
      <p:sp>
        <p:nvSpPr>
          <p:cNvPr id="20" name="Shape 20"/>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fr-FR" sz="1200" b="0">
                <a:solidFill>
                  <a:srgbClr val="00263D"/>
                </a:solidFill>
              </a:rPr>
              <a:t/>
            </a:r>
          </a:p>
        </p:txBody>
      </p:sp>
      <p:sp>
        <p:nvSpPr>
          <p:cNvPr id="21" name="Shape 21"/>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fr-FR" sz="3200" b="1">
                <a:solidFill>
                  <a:srgbClr val="FFFFFF"/>
                </a:solidFill>
              </a:rPr>
              <a:t>AWA Convert</a:t>
            </a:r>
          </a:p>
        </p:txBody>
      </p:sp>
      <p:sp>
        <p:nvSpPr>
          <p:cNvPr id="22" name="Shape 22"/>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fr-FR" sz="2800" b="1">
                <a:solidFill>
                  <a:srgbClr val="B3DFEF"/>
                </a:solidFill>
              </a:rPr>
              <a:t>8 900 €</a:t>
            </a:r>
          </a:p>
          <a:p>
            <a:pPr algn="l"/>
            <a:r>
              <a:rPr lang="fr-FR" sz="1000" b="0">
                <a:solidFill>
                  <a:srgbClr val="B3DFEF"/>
                </a:solidFill>
              </a:rPr>
              <a:t>HT par application et par an</a:t>
            </a:r>
          </a:p>
        </p:txBody>
      </p:sp>
      <p:sp>
        <p:nvSpPr>
          <p:cNvPr id="23" name="Shape 23"/>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fr-FR" sz="1200" b="1">
                <a:solidFill>
                  <a:srgbClr val="B3DFEF"/>
                </a:solidFill>
              </a:rPr>
              <a:t>awacloud.com</a:t>
            </a:r>
          </a:p>
        </p:txBody>
      </p:sp>
      <p:sp>
        <p:nvSpPr>
          <p:cNvPr id="24" name="Shape 24"/>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fr-FR" sz="2800" b="1">
                <a:solidFill>
                  <a:srgbClr val="00263D"/>
                </a:solidFill>
              </a:rPr>
              <a:t>Vos documents, lisibles par une IA, en local</a:t>
            </a:r>
          </a:p>
        </p:txBody>
      </p:sp>
      <p:sp>
        <p:nvSpPr>
          <p:cNvPr id="25" name="Shape 25"/>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fr-FR" sz="1400" b="0">
                <a:solidFill>
                  <a:srgbClr val="003462"/>
                </a:solidFill>
              </a:rPr>
              <a:t>Votre assistant, votre agent ou votre pipeline RAG doit lire des contrats, des tableurs et des présentations, puis rendre ses rapports en fichiers Word ou OpenDocument natifs.</a:t>
            </a:r>
          </a:p>
        </p:txBody>
      </p:sp>
      <p:sp>
        <p:nvSpPr>
          <p:cNvPr id="26" name="Shape 26"/>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Lire</a:t>
            </a:r>
          </a:p>
          <a:p>
            <a:pPr algn="l"/>
            <a:r>
              <a:rPr lang="fr-FR" sz="1150" b="0">
                <a:solidFill>
                  <a:srgbClr val="00263D"/>
                </a:solidFill>
              </a:rPr>
              <a:t>DOCX, ODT, XLSX et ODS vers un Markdown structuré, un format de texte simple que les modèles d'IA lisent et écrivent nativement (titres, listes, tableaux, liens conservés).</a:t>
            </a:r>
          </a:p>
        </p:txBody>
      </p:sp>
      <p:sp>
        <p:nvSpPr>
          <p:cNvPr id="27" name="Shape 27"/>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Écrire</a:t>
            </a:r>
          </a:p>
          <a:p>
            <a:pPr algn="l"/>
            <a:r>
              <a:rPr lang="fr-FR" sz="1150" b="0">
                <a:solidFill>
                  <a:srgbClr val="00263D"/>
                </a:solidFill>
              </a:rPr>
              <a:t>Markdown vers DOCX, ODT ou PDF.</a:t>
            </a:r>
          </a:p>
        </p:txBody>
      </p:sp>
      <p:sp>
        <p:nvSpPr>
          <p:cNvPr id="28" name="Shape 28"/>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Convertir</a:t>
            </a:r>
          </a:p>
          <a:p>
            <a:pPr algn="l"/>
            <a:r>
              <a:rPr lang="fr-FR" sz="1150" b="0">
                <a:solidFill>
                  <a:srgbClr val="00263D"/>
                </a:solidFill>
              </a:rPr>
              <a:t>DOCX ↔ ODT, DOCX et ODT vers PDF.</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9" name="Shape 29"/>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fr-FR" sz="1200" b="0">
                <a:solidFill>
                  <a:srgbClr val="00263D"/>
                </a:solidFill>
              </a:rPr>
              <a:t/>
            </a:r>
          </a:p>
        </p:txBody>
      </p:sp>
      <p:sp>
        <p:nvSpPr>
          <p:cNvPr id="30" name="Shape 30"/>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fr-FR" sz="1200" b="0">
                <a:solidFill>
                  <a:srgbClr val="00263D"/>
                </a:solidFill>
              </a:rPr>
              <a:t/>
            </a:r>
          </a:p>
        </p:txBody>
      </p:sp>
      <p:sp>
        <p:nvSpPr>
          <p:cNvPr id="31" name="Shape 31"/>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fr-FR" sz="3200" b="1">
                <a:solidFill>
                  <a:srgbClr val="FFFFFF"/>
                </a:solidFill>
              </a:rPr>
              <a:t>AWA PDF</a:t>
            </a:r>
          </a:p>
        </p:txBody>
      </p:sp>
      <p:sp>
        <p:nvSpPr>
          <p:cNvPr id="32" name="Shape 32"/>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fr-FR" sz="2800" b="1">
                <a:solidFill>
                  <a:srgbClr val="B3DFEF"/>
                </a:solidFill>
              </a:rPr>
              <a:t>4 900 €</a:t>
            </a:r>
          </a:p>
          <a:p>
            <a:pPr algn="l"/>
            <a:r>
              <a:rPr lang="fr-FR" sz="1000" b="0">
                <a:solidFill>
                  <a:srgbClr val="B3DFEF"/>
                </a:solidFill>
              </a:rPr>
              <a:t>HT par application et par an</a:t>
            </a:r>
          </a:p>
        </p:txBody>
      </p:sp>
      <p:sp>
        <p:nvSpPr>
          <p:cNvPr id="33" name="Shape 33"/>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fr-FR" sz="1200" b="1">
                <a:solidFill>
                  <a:srgbClr val="B3DFEF"/>
                </a:solidFill>
              </a:rPr>
              <a:t>awacloud.com</a:t>
            </a:r>
          </a:p>
        </p:txBody>
      </p:sp>
      <p:sp>
        <p:nvSpPr>
          <p:cNvPr id="34" name="Shape 34"/>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fr-FR" sz="2800" b="1">
                <a:solidFill>
                  <a:srgbClr val="00263D"/>
                </a:solidFill>
              </a:rPr>
              <a:t>Produire, protéger et contrôler du PDF, sans infrastructure</a:t>
            </a:r>
          </a:p>
        </p:txBody>
      </p:sp>
      <p:sp>
        <p:nvSpPr>
          <p:cNvPr id="35" name="Shape 35"/>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fr-FR" sz="1400" b="0">
                <a:solidFill>
                  <a:srgbClr val="003462"/>
                </a:solidFill>
              </a:rPr>
              <a:t>AWA PDF lit et écrit le PDF 2.0 (ISO 32000-2) et lit l'existant en PDF 1.7, dans le navigateur, dans un worker ou sur votre serveur.</a:t>
            </a:r>
          </a:p>
        </p:txBody>
      </p:sp>
      <p:sp>
        <p:nvSpPr>
          <p:cNvPr id="36" name="Shape 36"/>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Produire</a:t>
            </a:r>
          </a:p>
          <a:p>
            <a:pPr algn="l"/>
            <a:r>
              <a:rPr lang="fr-FR" sz="1150" b="0">
                <a:solidFill>
                  <a:srgbClr val="00263D"/>
                </a:solidFill>
              </a:rPr>
              <a:t>pages, texte et images.</a:t>
            </a:r>
          </a:p>
        </p:txBody>
      </p:sp>
      <p:sp>
        <p:nvSpPr>
          <p:cNvPr id="37" name="Shape 37"/>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Protéger</a:t>
            </a:r>
          </a:p>
          <a:p>
            <a:pPr algn="l"/>
            <a:r>
              <a:rPr lang="fr-FR" sz="1150" b="0">
                <a:solidFill>
                  <a:srgbClr val="00263D"/>
                </a:solidFill>
              </a:rPr>
              <a:t>chiffrement AES-256.</a:t>
            </a:r>
          </a:p>
        </p:txBody>
      </p:sp>
      <p:sp>
        <p:nvSpPr>
          <p:cNvPr id="38" name="Shape 38"/>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Signer</a:t>
            </a:r>
          </a:p>
          <a:p>
            <a:pPr algn="l"/>
            <a:r>
              <a:rPr lang="fr-FR" sz="1150" b="0">
                <a:solidFill>
                  <a:srgbClr val="00263D"/>
                </a:solidFill>
              </a:rPr>
              <a:t>signatures PAdES — le standard européen de signature des PDF, reconnu par eIDAS — produites dans le navigateur (RSA-PSS, ECDSA, Ed25519), du niveau B-B au niveau B-LTA quand votre intégration fournit l'horodatage et les éléments de révocation.</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39" name="Shape 39"/>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fr-FR" sz="1200" b="0">
                <a:solidFill>
                  <a:srgbClr val="00263D"/>
                </a:solidFill>
              </a:rPr>
              <a:t/>
            </a:r>
          </a:p>
        </p:txBody>
      </p:sp>
      <p:sp>
        <p:nvSpPr>
          <p:cNvPr id="40" name="Shape 40"/>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fr-FR" sz="1200" b="0">
                <a:solidFill>
                  <a:srgbClr val="00263D"/>
                </a:solidFill>
              </a:rPr>
              <a:t/>
            </a:r>
          </a:p>
        </p:txBody>
      </p:sp>
      <p:sp>
        <p:nvSpPr>
          <p:cNvPr id="41" name="Shape 41"/>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fr-FR" sz="3200" b="1">
                <a:solidFill>
                  <a:srgbClr val="FFFFFF"/>
                </a:solidFill>
              </a:rPr>
              <a:t>AWA Office</a:t>
            </a:r>
          </a:p>
        </p:txBody>
      </p:sp>
      <p:sp>
        <p:nvSpPr>
          <p:cNvPr id="42" name="Shape 42"/>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fr-FR" sz="2800" b="1">
                <a:solidFill>
                  <a:srgbClr val="B3DFEF"/>
                </a:solidFill>
              </a:rPr>
              <a:t>2 900 €</a:t>
            </a:r>
          </a:p>
          <a:p>
            <a:pPr algn="l"/>
            <a:r>
              <a:rPr lang="fr-FR" sz="1000" b="0">
                <a:solidFill>
                  <a:srgbClr val="B3DFEF"/>
                </a:solidFill>
              </a:rPr>
              <a:t>HT par application et par an</a:t>
            </a:r>
          </a:p>
        </p:txBody>
      </p:sp>
      <p:sp>
        <p:nvSpPr>
          <p:cNvPr id="43" name="Shape 43"/>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fr-FR" sz="1200" b="1">
                <a:solidFill>
                  <a:srgbClr val="B3DFEF"/>
                </a:solidFill>
              </a:rPr>
              <a:t>awacloud.com</a:t>
            </a:r>
          </a:p>
        </p:txBody>
      </p:sp>
      <p:sp>
        <p:nvSpPr>
          <p:cNvPr id="44" name="Shape 44"/>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fr-FR" sz="2800" b="1">
                <a:solidFill>
                  <a:srgbClr val="00263D"/>
                </a:solidFill>
              </a:rPr>
              <a:t>Vos documents Word, Excel, PowerPoint et OpenDocument, générés et lus par votre code</a:t>
            </a:r>
          </a:p>
        </p:txBody>
      </p:sp>
      <p:sp>
        <p:nvSpPr>
          <p:cNvPr id="45" name="Shape 45"/>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fr-FR" sz="1400" b="0">
                <a:solidFill>
                  <a:srgbClr val="003462"/>
                </a:solidFill>
              </a:rPr>
              <a:t>Une bibliothèque JavaScript qui lit et écrit les six formats bureautiques (DOCX, XLSX, PPTX, ODT, ODS, ODP), sans Microsoft Office, sans LibreOffice, sans serveur de conversion et sans dépendance tierce : dans le navigateur, dans un worker ou sur votre serveur.</a:t>
            </a:r>
          </a:p>
        </p:txBody>
      </p:sp>
      <p:sp>
        <p:nvSpPr>
          <p:cNvPr id="46" name="Shape 46"/>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Word (DOCX)</a:t>
            </a:r>
          </a:p>
          <a:p>
            <a:pPr algn="l"/>
            <a:r>
              <a:rPr lang="fr-FR" sz="1150" b="0">
                <a:solidFill>
                  <a:srgbClr val="00263D"/>
                </a:solidFill>
              </a:rPr>
              <a:t>Paragraphes, mises en forme, tableaux, listes, liens, images, graphiques, formes, signets, champs, en-têtes et pieds de page, notes, commentaires, suivi des modifications.</a:t>
            </a:r>
          </a:p>
        </p:txBody>
      </p:sp>
      <p:sp>
        <p:nvSpPr>
          <p:cNvPr id="47" name="Shape 47"/>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Publipostage et assemblage de documents (Word)</a:t>
            </a:r>
          </a:p>
          <a:p>
            <a:pPr algn="l"/>
            <a:r>
              <a:rPr lang="fr-FR" sz="1150" b="0">
                <a:solidFill>
                  <a:srgbClr val="00263D"/>
                </a:solidFill>
              </a:rPr>
              <a:t>Vous concevez le modèle dans Word.</a:t>
            </a:r>
          </a:p>
        </p:txBody>
      </p:sp>
      <p:sp>
        <p:nvSpPr>
          <p:cNvPr id="48" name="Shape 48"/>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Excel (XLSX)</a:t>
            </a:r>
          </a:p>
          <a:p>
            <a:pPr algn="l"/>
            <a:r>
              <a:rPr lang="fr-FR" sz="1150" b="0">
                <a:solidFill>
                  <a:srgbClr val="00263D"/>
                </a:solidFill>
              </a:rPr>
              <a:t>Classeurs, feuilles, cellules et références, styles, tableaux, mise en forme conditionnelle, commentaires, dessins.</a:t>
            </a: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49" name="Shape 49"/>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fr-FR" sz="1200" b="0">
                <a:solidFill>
                  <a:srgbClr val="00263D"/>
                </a:solidFill>
              </a:rPr>
              <a:t/>
            </a:r>
          </a:p>
        </p:txBody>
      </p:sp>
      <p:sp>
        <p:nvSpPr>
          <p:cNvPr id="50" name="Shape 50"/>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fr-FR" sz="1200" b="0">
                <a:solidFill>
                  <a:srgbClr val="00263D"/>
                </a:solidFill>
              </a:rPr>
              <a:t/>
            </a:r>
          </a:p>
        </p:txBody>
      </p:sp>
      <p:sp>
        <p:nvSpPr>
          <p:cNvPr id="51" name="Shape 51"/>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fr-FR" sz="3200" b="1">
                <a:solidFill>
                  <a:srgbClr val="FFFFFF"/>
                </a:solidFill>
              </a:rPr>
              <a:t>AWA Markdown</a:t>
            </a:r>
          </a:p>
        </p:txBody>
      </p:sp>
      <p:sp>
        <p:nvSpPr>
          <p:cNvPr id="52" name="Shape 52"/>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fr-FR" sz="2800" b="1">
                <a:solidFill>
                  <a:srgbClr val="B3DFEF"/>
                </a:solidFill>
              </a:rPr>
              <a:t>490 €</a:t>
            </a:r>
          </a:p>
          <a:p>
            <a:pPr algn="l"/>
            <a:r>
              <a:rPr lang="fr-FR" sz="1000" b="0">
                <a:solidFill>
                  <a:srgbClr val="B3DFEF"/>
                </a:solidFill>
              </a:rPr>
              <a:t>HT par application et par an</a:t>
            </a:r>
          </a:p>
        </p:txBody>
      </p:sp>
      <p:sp>
        <p:nvSpPr>
          <p:cNvPr id="53" name="Shape 53"/>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fr-FR" sz="1200" b="1">
                <a:solidFill>
                  <a:srgbClr val="B3DFEF"/>
                </a:solidFill>
              </a:rPr>
              <a:t>awacloud.com</a:t>
            </a:r>
          </a:p>
        </p:txBody>
      </p:sp>
      <p:sp>
        <p:nvSpPr>
          <p:cNvPr id="54" name="Shape 54"/>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fr-FR" sz="2800" b="1">
                <a:solidFill>
                  <a:srgbClr val="00263D"/>
                </a:solidFill>
              </a:rPr>
              <a:t>Afficher du Markdown que vous n'avez pas écrit, assaini par défaut</a:t>
            </a:r>
          </a:p>
        </p:txBody>
      </p:sp>
      <p:sp>
        <p:nvSpPr>
          <p:cNvPr id="55" name="Shape 55"/>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fr-FR" sz="1400" b="0">
                <a:solidFill>
                  <a:srgbClr val="003462"/>
                </a:solidFill>
              </a:rPr>
              <a:t>Les réponses d'une IA et les contenus de vos utilisateurs sont des entrées non fiables.</a:t>
            </a:r>
          </a:p>
        </p:txBody>
      </p:sp>
      <p:sp>
        <p:nvSpPr>
          <p:cNvPr id="56" name="Shape 56"/>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Afficher</a:t>
            </a:r>
          </a:p>
          <a:p>
            <a:pPr algn="l"/>
            <a:r>
              <a:rPr lang="fr-FR" sz="1150" b="0">
                <a:solidFill>
                  <a:srgbClr val="00263D"/>
                </a:solidFill>
              </a:rPr>
              <a:t>Transforme du Markdown en HTML prêt à afficher : titres, listes, liens, images, code, ainsi que les ajouts de GitHub (tableaux, listes de tâches, texte barré, liens automatiques).</a:t>
            </a:r>
          </a:p>
        </p:txBody>
      </p:sp>
      <p:sp>
        <p:nvSpPr>
          <p:cNvPr id="57" name="Shape 57"/>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Réécrire</a:t>
            </a:r>
          </a:p>
          <a:p>
            <a:pPr algn="l"/>
            <a:r>
              <a:rPr lang="fr-FR" sz="1150" b="0">
                <a:solidFill>
                  <a:srgbClr val="00263D"/>
                </a:solidFill>
              </a:rPr>
              <a:t>Donne accès à l'arbre complet du document, pour réécrire les liens, décaler les titres ou caviarder un passage avant affichage ou indexation.</a:t>
            </a:r>
          </a:p>
        </p:txBody>
      </p:sp>
      <p:sp>
        <p:nvSpPr>
          <p:cNvPr id="58" name="Shape 58"/>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fr-FR" sz="1600" b="1">
                <a:solidFill>
                  <a:srgbClr val="0078B3"/>
                </a:solidFill>
              </a:rPr>
              <a:t>Réémettre</a:t>
            </a:r>
          </a:p>
          <a:p>
            <a:pPr algn="l"/>
            <a:r>
              <a:rPr lang="fr-FR" sz="1150" b="0">
                <a:solidFill>
                  <a:srgbClr val="00263D"/>
                </a:solidFill>
              </a:rPr>
              <a:t>Après modification, produit de nouveau du Markdown CommonMark et GFM sans casser sa structure.</a:t>
            </a:r>
          </a:p>
        </p:txBody>
      </p:sp>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59" name="Shape 59"/>
          <p:cNvSpPr>
            <a:spLocks noGrp="1"/>
          </p:cNvSpPr>
          <p:nvPr/>
        </p:nvSpPr>
        <p:spPr>
          <a:xfrm>
            <a:off x="0" y="0"/>
            <a:ext cx="12191695" cy="6858000"/>
          </a:xfrm>
          <a:prstGeom prst="rect">
            <a:avLst/>
          </a:prstGeom>
          <a:solidFill>
            <a:srgbClr val="00263D"/>
          </a:solidFill>
          <a:ln>
            <a:noFill/>
          </a:ln>
        </p:spPr>
        <p:txBody>
          <a:bodyPr wrap="square" lIns="137160" tIns="137160" rIns="137160" bIns="137160" anchor="t"/>
          <a:lstStyle/>
          <a:p>
            <a:pPr algn="l"/>
            <a:r>
              <a:rPr lang="fr-FR" sz="1200" b="0">
                <a:solidFill>
                  <a:srgbClr val="00263D"/>
                </a:solidFill>
              </a:rPr>
              <a:t/>
            </a:r>
          </a:p>
        </p:txBody>
      </p:sp>
      <p:pic>
        <p:nvPicPr>
          <p:cNvPr id="60" name="Picture 60" descr="AwaCloud"/>
          <p:cNvPicPr>
            <a:picLocks noChangeAspect="1"/>
          </p:cNvPicPr>
          <p:nvPr/>
        </p:nvPicPr>
        <p:blipFill>
          <a:blip r:embed="rId1"/>
          <a:stretch>
            <a:fillRect/>
          </a:stretch>
        </p:blipFill>
        <p:spPr>
          <a:xfrm>
            <a:off x="5455768" y="822960"/>
            <a:ext cx="1280160" cy="1280160"/>
          </a:xfrm>
          <a:prstGeom prst="rect">
            <a:avLst/>
          </a:prstGeom>
        </p:spPr>
      </p:pic>
      <p:sp>
        <p:nvSpPr>
          <p:cNvPr id="61" name="Shape 61"/>
          <p:cNvSpPr>
            <a:spLocks noGrp="1"/>
          </p:cNvSpPr>
          <p:nvPr/>
        </p:nvSpPr>
        <p:spPr>
          <a:xfrm>
            <a:off x="914400" y="2377440"/>
            <a:ext cx="10362895" cy="1005840"/>
          </a:xfrm>
          <a:prstGeom prst="rect">
            <a:avLst/>
          </a:prstGeom>
          <a:noFill/>
          <a:ln>
            <a:noFill/>
          </a:ln>
        </p:spPr>
        <p:txBody>
          <a:bodyPr wrap="square" lIns="137160" tIns="137160" rIns="137160" bIns="137160" anchor="ctr"/>
          <a:lstStyle/>
          <a:p>
            <a:pPr algn="ctr"/>
            <a:r>
              <a:rPr lang="fr-FR" sz="3600" b="1">
                <a:solidFill>
                  <a:srgbClr val="FFFFFF"/>
                </a:solidFill>
              </a:rPr>
              <a:t>Tester nos démos · Acheter une licence</a:t>
            </a:r>
          </a:p>
        </p:txBody>
      </p:sp>
      <p:sp>
        <p:nvSpPr>
          <p:cNvPr id="62" name="Shape 62"/>
          <p:cNvSpPr>
            <a:spLocks noGrp="1"/>
          </p:cNvSpPr>
          <p:nvPr/>
        </p:nvSpPr>
        <p:spPr>
          <a:xfrm>
            <a:off x="914400" y="3474720"/>
            <a:ext cx="10362895" cy="731520"/>
          </a:xfrm>
          <a:prstGeom prst="rect">
            <a:avLst/>
          </a:prstGeom>
          <a:noFill/>
          <a:ln>
            <a:noFill/>
          </a:ln>
        </p:spPr>
        <p:txBody>
          <a:bodyPr wrap="square" lIns="137160" tIns="137160" rIns="137160" bIns="137160" anchor="ctr"/>
          <a:lstStyle/>
          <a:p>
            <a:pPr algn="ctr"/>
            <a:r>
              <a:rPr lang="fr-FR" sz="2400" b="1">
                <a:solidFill>
                  <a:srgbClr val="B3DFEF"/>
                </a:solidFill>
              </a:rPr>
              <a:t>awacloud.com/fr/offers</a:t>
            </a:r>
          </a:p>
        </p:txBody>
      </p:sp>
      <p:sp>
        <p:nvSpPr>
          <p:cNvPr id="63" name="Shape 63"/>
          <p:cNvSpPr>
            <a:spLocks noGrp="1"/>
          </p:cNvSpPr>
          <p:nvPr/>
        </p:nvSpPr>
        <p:spPr>
          <a:xfrm>
            <a:off x="1371600" y="5577840"/>
            <a:ext cx="9448495" cy="822960"/>
          </a:xfrm>
          <a:prstGeom prst="rect">
            <a:avLst/>
          </a:prstGeom>
          <a:noFill/>
          <a:ln>
            <a:noFill/>
          </a:ln>
        </p:spPr>
        <p:txBody>
          <a:bodyPr wrap="square" lIns="137160" tIns="137160" rIns="137160" bIns="137160" anchor="b"/>
          <a:lstStyle/>
          <a:p>
            <a:pPr algn="ctr"/>
            <a:r>
              <a:rPr lang="fr-FR" sz="1100" b="0">
                <a:solidFill>
                  <a:srgbClr val="B3DFEF"/>
                </a:solidFill>
              </a:rPr>
              <a:t>Réalisé avec AWA Office par AwaCloud. Ouvert ici par AWA Viewer, sur votre appareil : rien n’a été envoyé. Offres et tarifs : awacloud.com/fr/offers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xmlns:a="http://schemas.openxmlformats.org/drawingml/2006/main" name="Offic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